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0" r:id="rId6"/>
    <p:sldId id="261" r:id="rId7"/>
    <p:sldId id="262" r:id="rId8"/>
    <p:sldId id="263" r:id="rId9"/>
    <p:sldId id="264" r:id="rId10"/>
    <p:sldId id="265" r:id="rId11"/>
    <p:sldId id="275" r:id="rId12"/>
    <p:sldId id="266" r:id="rId13"/>
    <p:sldId id="273" r:id="rId14"/>
    <p:sldId id="268" r:id="rId15"/>
    <p:sldId id="274" r:id="rId16"/>
    <p:sldId id="269" r:id="rId17"/>
    <p:sldId id="270"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31879D-5561-4502-9251-B2FD8EAE84A1}" v="4" dt="2024-05-21T18:00:12.8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4660"/>
  </p:normalViewPr>
  <p:slideViewPr>
    <p:cSldViewPr snapToGrid="0">
      <p:cViewPr varScale="1">
        <p:scale>
          <a:sx n="63" d="100"/>
          <a:sy n="63" d="100"/>
        </p:scale>
        <p:origin x="91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dhu karthik" userId="86663e9770284c22" providerId="LiveId" clId="{A031879D-5561-4502-9251-B2FD8EAE84A1}"/>
    <pc:docChg chg="custSel modSld">
      <pc:chgData name="yadhu karthik" userId="86663e9770284c22" providerId="LiveId" clId="{A031879D-5561-4502-9251-B2FD8EAE84A1}" dt="2024-05-22T06:39:05.529" v="19" actId="115"/>
      <pc:docMkLst>
        <pc:docMk/>
      </pc:docMkLst>
      <pc:sldChg chg="modSp mod">
        <pc:chgData name="yadhu karthik" userId="86663e9770284c22" providerId="LiveId" clId="{A031879D-5561-4502-9251-B2FD8EAE84A1}" dt="2024-05-22T06:39:05.529" v="19" actId="115"/>
        <pc:sldMkLst>
          <pc:docMk/>
          <pc:sldMk cId="3753918471" sldId="265"/>
        </pc:sldMkLst>
        <pc:spChg chg="mod">
          <ac:chgData name="yadhu karthik" userId="86663e9770284c22" providerId="LiveId" clId="{A031879D-5561-4502-9251-B2FD8EAE84A1}" dt="2024-05-22T06:39:05.529" v="19" actId="115"/>
          <ac:spMkLst>
            <pc:docMk/>
            <pc:sldMk cId="3753918471" sldId="265"/>
            <ac:spMk id="3" creationId="{C7BBE414-9F35-607E-9BF5-1C472EE4ADE4}"/>
          </ac:spMkLst>
        </pc:spChg>
      </pc:sldChg>
      <pc:sldChg chg="addSp delSp modSp mod">
        <pc:chgData name="yadhu karthik" userId="86663e9770284c22" providerId="LiveId" clId="{A031879D-5561-4502-9251-B2FD8EAE84A1}" dt="2024-05-21T18:00:57.828" v="18" actId="1076"/>
        <pc:sldMkLst>
          <pc:docMk/>
          <pc:sldMk cId="3243841532" sldId="266"/>
        </pc:sldMkLst>
        <pc:spChg chg="add del mod">
          <ac:chgData name="yadhu karthik" userId="86663e9770284c22" providerId="LiveId" clId="{A031879D-5561-4502-9251-B2FD8EAE84A1}" dt="2024-05-21T18:00:12.849" v="13" actId="931"/>
          <ac:spMkLst>
            <pc:docMk/>
            <pc:sldMk cId="3243841532" sldId="266"/>
            <ac:spMk id="4" creationId="{F047BFE3-EAC4-C3BD-CA29-F430541A6450}"/>
          </ac:spMkLst>
        </pc:spChg>
        <pc:picChg chg="del">
          <ac:chgData name="yadhu karthik" userId="86663e9770284c22" providerId="LiveId" clId="{A031879D-5561-4502-9251-B2FD8EAE84A1}" dt="2024-05-21T18:00:06.921" v="12" actId="21"/>
          <ac:picMkLst>
            <pc:docMk/>
            <pc:sldMk cId="3243841532" sldId="266"/>
            <ac:picMk id="5" creationId="{1E8BCF4F-38BD-74E9-6B42-41E2D5DA4FCC}"/>
          </ac:picMkLst>
        </pc:picChg>
        <pc:picChg chg="add mod">
          <ac:chgData name="yadhu karthik" userId="86663e9770284c22" providerId="LiveId" clId="{A031879D-5561-4502-9251-B2FD8EAE84A1}" dt="2024-05-21T18:00:57.828" v="18" actId="1076"/>
          <ac:picMkLst>
            <pc:docMk/>
            <pc:sldMk cId="3243841532" sldId="266"/>
            <ac:picMk id="7" creationId="{A1FF6C17-CC94-29D3-AC67-62B603424EBA}"/>
          </ac:picMkLst>
        </pc:picChg>
      </pc:sldChg>
      <pc:sldChg chg="addSp delSp modSp mod">
        <pc:chgData name="yadhu karthik" userId="86663e9770284c22" providerId="LiveId" clId="{A031879D-5561-4502-9251-B2FD8EAE84A1}" dt="2024-05-21T18:00:46.922" v="17" actId="14100"/>
        <pc:sldMkLst>
          <pc:docMk/>
          <pc:sldMk cId="3011129369" sldId="268"/>
        </pc:sldMkLst>
        <pc:spChg chg="add del mod">
          <ac:chgData name="yadhu karthik" userId="86663e9770284c22" providerId="LiveId" clId="{A031879D-5561-4502-9251-B2FD8EAE84A1}" dt="2024-05-21T17:59:40.332" v="8" actId="931"/>
          <ac:spMkLst>
            <pc:docMk/>
            <pc:sldMk cId="3011129369" sldId="268"/>
            <ac:spMk id="4" creationId="{D8CAE0A2-A664-D7C0-2B72-C744D145DBD4}"/>
          </ac:spMkLst>
        </pc:spChg>
        <pc:picChg chg="del">
          <ac:chgData name="yadhu karthik" userId="86663e9770284c22" providerId="LiveId" clId="{A031879D-5561-4502-9251-B2FD8EAE84A1}" dt="2024-05-21T17:59:18.443" v="7" actId="21"/>
          <ac:picMkLst>
            <pc:docMk/>
            <pc:sldMk cId="3011129369" sldId="268"/>
            <ac:picMk id="5" creationId="{1D73465F-73AF-08D9-1780-288E942BAF6D}"/>
          </ac:picMkLst>
        </pc:picChg>
        <pc:picChg chg="add mod">
          <ac:chgData name="yadhu karthik" userId="86663e9770284c22" providerId="LiveId" clId="{A031879D-5561-4502-9251-B2FD8EAE84A1}" dt="2024-05-21T18:00:46.922" v="17" actId="14100"/>
          <ac:picMkLst>
            <pc:docMk/>
            <pc:sldMk cId="3011129369" sldId="268"/>
            <ac:picMk id="7" creationId="{C1050E72-50CB-B3FD-5CC1-8232EFFC1AC2}"/>
          </ac:picMkLst>
        </pc:picChg>
      </pc:sldChg>
      <pc:sldChg chg="addSp delSp modSp mod">
        <pc:chgData name="yadhu karthik" userId="86663e9770284c22" providerId="LiveId" clId="{A031879D-5561-4502-9251-B2FD8EAE84A1}" dt="2024-05-21T17:59:01.796" v="6" actId="14100"/>
        <pc:sldMkLst>
          <pc:docMk/>
          <pc:sldMk cId="3270781014" sldId="269"/>
        </pc:sldMkLst>
        <pc:spChg chg="add del mod">
          <ac:chgData name="yadhu karthik" userId="86663e9770284c22" providerId="LiveId" clId="{A031879D-5561-4502-9251-B2FD8EAE84A1}" dt="2024-05-21T17:58:17.557" v="1" actId="931"/>
          <ac:spMkLst>
            <pc:docMk/>
            <pc:sldMk cId="3270781014" sldId="269"/>
            <ac:spMk id="4" creationId="{AEAF5F53-6BF8-57BC-009A-FD22AF75B102}"/>
          </ac:spMkLst>
        </pc:spChg>
        <pc:spChg chg="add del mod">
          <ac:chgData name="yadhu karthik" userId="86663e9770284c22" providerId="LiveId" clId="{A031879D-5561-4502-9251-B2FD8EAE84A1}" dt="2024-05-21T17:58:39.954" v="3" actId="931"/>
          <ac:spMkLst>
            <pc:docMk/>
            <pc:sldMk cId="3270781014" sldId="269"/>
            <ac:spMk id="9" creationId="{25EC73EC-B568-EE3F-79C0-B253941F46AD}"/>
          </ac:spMkLst>
        </pc:spChg>
        <pc:picChg chg="del">
          <ac:chgData name="yadhu karthik" userId="86663e9770284c22" providerId="LiveId" clId="{A031879D-5561-4502-9251-B2FD8EAE84A1}" dt="2024-05-21T17:58:07.390" v="0" actId="21"/>
          <ac:picMkLst>
            <pc:docMk/>
            <pc:sldMk cId="3270781014" sldId="269"/>
            <ac:picMk id="5" creationId="{11B31E66-1865-DDFC-31AB-8EB2CD382696}"/>
          </ac:picMkLst>
        </pc:picChg>
        <pc:picChg chg="add del mod">
          <ac:chgData name="yadhu karthik" userId="86663e9770284c22" providerId="LiveId" clId="{A031879D-5561-4502-9251-B2FD8EAE84A1}" dt="2024-05-21T17:58:21.057" v="2" actId="21"/>
          <ac:picMkLst>
            <pc:docMk/>
            <pc:sldMk cId="3270781014" sldId="269"/>
            <ac:picMk id="7" creationId="{5E8B92C6-EF60-8A28-7CF2-4C699F4BE4B0}"/>
          </ac:picMkLst>
        </pc:picChg>
        <pc:picChg chg="add mod">
          <ac:chgData name="yadhu karthik" userId="86663e9770284c22" providerId="LiveId" clId="{A031879D-5561-4502-9251-B2FD8EAE84A1}" dt="2024-05-21T17:59:01.796" v="6" actId="14100"/>
          <ac:picMkLst>
            <pc:docMk/>
            <pc:sldMk cId="3270781014" sldId="269"/>
            <ac:picMk id="11" creationId="{12630B72-336A-9212-60D6-E8C7DA08206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4047587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1593859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2807652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333FC6-AD0A-4B36-B815-E8E830B2DC12}" type="datetimeFigureOut">
              <a:rPr lang="en-IN" smtClean="0"/>
              <a:t>22-05-2024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1918363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333FC6-AD0A-4B36-B815-E8E830B2DC12}" type="datetimeFigureOut">
              <a:rPr lang="en-IN" smtClean="0"/>
              <a:t>22-05-2024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2611581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333FC6-AD0A-4B36-B815-E8E830B2DC12}" type="datetimeFigureOut">
              <a:rPr lang="en-IN" smtClean="0"/>
              <a:t>22-05-2024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26857543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333FC6-AD0A-4B36-B815-E8E830B2DC12}" type="datetimeFigureOut">
              <a:rPr lang="en-IN" smtClean="0"/>
              <a:t>22-05-2024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1830205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9333FC6-AD0A-4B36-B815-E8E830B2DC12}" type="datetimeFigureOut">
              <a:rPr lang="en-IN" smtClean="0"/>
              <a:t>22-05-2024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310087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9333FC6-AD0A-4B36-B815-E8E830B2DC12}" type="datetimeFigureOut">
              <a:rPr lang="en-IN" smtClean="0"/>
              <a:t>22-05-2024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1562651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1333936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621594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3297559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383465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1870201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1856410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333FC6-AD0A-4B36-B815-E8E830B2DC12}" type="datetimeFigureOut">
              <a:rPr lang="en-IN" smtClean="0"/>
              <a:t>22-05-2024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7C2B070-1E2E-4907-A367-45D11AC427C1}" type="slidenum">
              <a:rPr lang="en-IN" smtClean="0"/>
              <a:t>‹#›</a:t>
            </a:fld>
            <a:endParaRPr lang="en-IN"/>
          </a:p>
        </p:txBody>
      </p:sp>
    </p:spTree>
    <p:extLst>
      <p:ext uri="{BB962C8B-B14F-4D97-AF65-F5344CB8AC3E}">
        <p14:creationId xmlns:p14="http://schemas.microsoft.com/office/powerpoint/2010/main" val="4251851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9333FC6-AD0A-4B36-B815-E8E830B2DC12}" type="datetimeFigureOut">
              <a:rPr lang="en-IN" smtClean="0"/>
              <a:t>22-05-2024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7C2B070-1E2E-4907-A367-45D11AC427C1}" type="slidenum">
              <a:rPr lang="en-IN" smtClean="0"/>
              <a:t>‹#›</a:t>
            </a:fld>
            <a:endParaRPr lang="en-IN"/>
          </a:p>
        </p:txBody>
      </p:sp>
    </p:spTree>
    <p:extLst>
      <p:ext uri="{BB962C8B-B14F-4D97-AF65-F5344CB8AC3E}">
        <p14:creationId xmlns:p14="http://schemas.microsoft.com/office/powerpoint/2010/main" val="3678093315"/>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98363-A7D0-E832-409B-8DBDFBC8BBBC}"/>
              </a:ext>
            </a:extLst>
          </p:cNvPr>
          <p:cNvSpPr>
            <a:spLocks noGrp="1"/>
          </p:cNvSpPr>
          <p:nvPr>
            <p:ph type="ctrTitle"/>
          </p:nvPr>
        </p:nvSpPr>
        <p:spPr>
          <a:xfrm>
            <a:off x="79483" y="1446953"/>
            <a:ext cx="7766936" cy="1646302"/>
          </a:xfrm>
        </p:spPr>
        <p:txBody>
          <a:bodyPr/>
          <a:lstStyle/>
          <a:p>
            <a:r>
              <a:rPr lang="en-US" dirty="0"/>
              <a:t>ONLINE JOB PORTAL   MANAGEMENT SYSTEM</a:t>
            </a:r>
            <a:endParaRPr lang="en-IN" dirty="0"/>
          </a:p>
        </p:txBody>
      </p:sp>
      <p:sp>
        <p:nvSpPr>
          <p:cNvPr id="3" name="Subtitle 2">
            <a:extLst>
              <a:ext uri="{FF2B5EF4-FFF2-40B4-BE49-F238E27FC236}">
                <a16:creationId xmlns:a16="http://schemas.microsoft.com/office/drawing/2014/main" id="{45A876CE-8383-107D-FB96-DD7E75AA1AB5}"/>
              </a:ext>
            </a:extLst>
          </p:cNvPr>
          <p:cNvSpPr>
            <a:spLocks noGrp="1"/>
          </p:cNvSpPr>
          <p:nvPr>
            <p:ph type="subTitle" idx="1"/>
          </p:nvPr>
        </p:nvSpPr>
        <p:spPr/>
        <p:txBody>
          <a:bodyPr>
            <a:normAutofit fontScale="85000" lnSpcReduction="20000"/>
          </a:bodyPr>
          <a:lstStyle/>
          <a:p>
            <a:pPr marL="0" lvl="0" indent="0" algn="r" rtl="0">
              <a:lnSpc>
                <a:spcPct val="90000"/>
              </a:lnSpc>
              <a:spcBef>
                <a:spcPts val="0"/>
              </a:spcBef>
              <a:spcAft>
                <a:spcPts val="0"/>
              </a:spcAft>
              <a:buSzPts val="275"/>
              <a:buNone/>
            </a:pPr>
            <a:endParaRPr lang="en-US" sz="1800" dirty="0">
              <a:solidFill>
                <a:schemeClr val="tx1"/>
              </a:solidFill>
            </a:endParaRPr>
          </a:p>
          <a:p>
            <a:pPr marL="0" lvl="0" indent="0" algn="r" rtl="0">
              <a:lnSpc>
                <a:spcPct val="90000"/>
              </a:lnSpc>
              <a:spcBef>
                <a:spcPts val="0"/>
              </a:spcBef>
              <a:spcAft>
                <a:spcPts val="0"/>
              </a:spcAft>
              <a:buSzPts val="275"/>
              <a:buNone/>
            </a:pPr>
            <a:endParaRPr lang="en-US" sz="1800" dirty="0">
              <a:solidFill>
                <a:schemeClr val="tx1"/>
              </a:solidFill>
            </a:endParaRPr>
          </a:p>
          <a:p>
            <a:pPr marL="0" lvl="0" indent="0" algn="r" rtl="0">
              <a:lnSpc>
                <a:spcPct val="90000"/>
              </a:lnSpc>
              <a:spcBef>
                <a:spcPts val="0"/>
              </a:spcBef>
              <a:spcAft>
                <a:spcPts val="0"/>
              </a:spcAft>
              <a:buSzPts val="275"/>
              <a:buNone/>
            </a:pPr>
            <a:r>
              <a:rPr lang="en-US" sz="1800" dirty="0">
                <a:solidFill>
                  <a:schemeClr val="tx1"/>
                </a:solidFill>
              </a:rPr>
              <a:t>Guided by : Dr. Sangram Ray</a:t>
            </a:r>
          </a:p>
          <a:p>
            <a:pPr marL="0" lvl="0" indent="0" algn="r" rtl="0">
              <a:lnSpc>
                <a:spcPct val="90000"/>
              </a:lnSpc>
              <a:spcBef>
                <a:spcPts val="800"/>
              </a:spcBef>
              <a:spcAft>
                <a:spcPts val="0"/>
              </a:spcAft>
              <a:buSzPts val="275"/>
              <a:buNone/>
            </a:pPr>
            <a:r>
              <a:rPr lang="en-US" sz="1800" dirty="0">
                <a:solidFill>
                  <a:schemeClr val="tx1"/>
                </a:solidFill>
              </a:rPr>
              <a:t>Submitted by :</a:t>
            </a:r>
            <a:r>
              <a:rPr lang="en-US" dirty="0">
                <a:solidFill>
                  <a:schemeClr val="tx1"/>
                </a:solidFill>
              </a:rPr>
              <a:t>Thani Karthik</a:t>
            </a:r>
            <a:endParaRPr lang="en-US" sz="1800" dirty="0">
              <a:solidFill>
                <a:schemeClr val="tx1"/>
              </a:solidFill>
            </a:endParaRPr>
          </a:p>
          <a:p>
            <a:pPr marL="0" lvl="0" indent="0" algn="r" rtl="0">
              <a:lnSpc>
                <a:spcPct val="90000"/>
              </a:lnSpc>
              <a:spcBef>
                <a:spcPts val="800"/>
              </a:spcBef>
              <a:spcAft>
                <a:spcPts val="0"/>
              </a:spcAft>
              <a:buSzPts val="275"/>
              <a:buNone/>
            </a:pPr>
            <a:r>
              <a:rPr lang="en-US" sz="1800" dirty="0">
                <a:solidFill>
                  <a:schemeClr val="tx1"/>
                </a:solidFill>
              </a:rPr>
              <a:t>B220036CS</a:t>
            </a:r>
          </a:p>
          <a:p>
            <a:endParaRPr lang="en-IN" dirty="0">
              <a:solidFill>
                <a:schemeClr val="tx1"/>
              </a:solidFill>
            </a:endParaRPr>
          </a:p>
        </p:txBody>
      </p:sp>
    </p:spTree>
    <p:extLst>
      <p:ext uri="{BB962C8B-B14F-4D97-AF65-F5344CB8AC3E}">
        <p14:creationId xmlns:p14="http://schemas.microsoft.com/office/powerpoint/2010/main" val="2248071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7B712-EEB1-C944-BDC4-A07A9E995975}"/>
              </a:ext>
            </a:extLst>
          </p:cNvPr>
          <p:cNvSpPr>
            <a:spLocks noGrp="1"/>
          </p:cNvSpPr>
          <p:nvPr>
            <p:ph type="title"/>
          </p:nvPr>
        </p:nvSpPr>
        <p:spPr/>
        <p:txBody>
          <a:bodyPr/>
          <a:lstStyle/>
          <a:p>
            <a:r>
              <a:rPr lang="en-IN" spc="-10" dirty="0"/>
              <a:t>CONTENTS-</a:t>
            </a:r>
            <a:endParaRPr lang="en-IN" dirty="0"/>
          </a:p>
        </p:txBody>
      </p:sp>
      <p:sp>
        <p:nvSpPr>
          <p:cNvPr id="3" name="Content Placeholder 2">
            <a:extLst>
              <a:ext uri="{FF2B5EF4-FFF2-40B4-BE49-F238E27FC236}">
                <a16:creationId xmlns:a16="http://schemas.microsoft.com/office/drawing/2014/main" id="{EA5DC58A-99B5-6C16-7FED-0DC6ACA98867}"/>
              </a:ext>
            </a:extLst>
          </p:cNvPr>
          <p:cNvSpPr>
            <a:spLocks noGrp="1"/>
          </p:cNvSpPr>
          <p:nvPr>
            <p:ph idx="1"/>
          </p:nvPr>
        </p:nvSpPr>
        <p:spPr>
          <a:xfrm>
            <a:off x="770640" y="1703389"/>
            <a:ext cx="8596668" cy="3880773"/>
          </a:xfrm>
        </p:spPr>
        <p:txBody>
          <a:bodyPr>
            <a:normAutofit/>
          </a:bodyPr>
          <a:lstStyle/>
          <a:p>
            <a:pPr marL="354965" indent="-342900">
              <a:lnSpc>
                <a:spcPct val="100000"/>
              </a:lnSpc>
              <a:spcBef>
                <a:spcPts val="1639"/>
              </a:spcBef>
              <a:buFont typeface="Wingdings" panose="05000000000000000000" pitchFamily="2" charset="2"/>
              <a:buChar char="q"/>
              <a:tabLst>
                <a:tab pos="354965" algn="l"/>
                <a:tab pos="355600" algn="l"/>
              </a:tabLst>
            </a:pPr>
            <a:r>
              <a:rPr lang="en-US" sz="2400" spc="-10" dirty="0">
                <a:solidFill>
                  <a:schemeClr val="tx1"/>
                </a:solidFill>
                <a:latin typeface="Corbel"/>
                <a:cs typeface="Corbel"/>
              </a:rPr>
              <a:t>INTRODUCTION</a:t>
            </a:r>
            <a:endParaRPr lang="en-US" sz="2400" dirty="0">
              <a:solidFill>
                <a:schemeClr val="tx1"/>
              </a:solidFill>
              <a:latin typeface="Corbel"/>
              <a:cs typeface="Corbel"/>
            </a:endParaRPr>
          </a:p>
          <a:p>
            <a:pPr marL="354965" indent="-342900">
              <a:lnSpc>
                <a:spcPct val="100000"/>
              </a:lnSpc>
              <a:spcBef>
                <a:spcPts val="1540"/>
              </a:spcBef>
              <a:buFont typeface="Wingdings" panose="05000000000000000000" pitchFamily="2" charset="2"/>
              <a:buChar char="q"/>
              <a:tabLst>
                <a:tab pos="354965" algn="l"/>
                <a:tab pos="355600" algn="l"/>
              </a:tabLst>
            </a:pPr>
            <a:r>
              <a:rPr lang="en-US" sz="2400" spc="-10" dirty="0">
                <a:solidFill>
                  <a:schemeClr val="tx1"/>
                </a:solidFill>
                <a:latin typeface="Corbel"/>
                <a:cs typeface="Corbel"/>
              </a:rPr>
              <a:t>OBJECTIVE</a:t>
            </a:r>
            <a:endParaRPr lang="en-US" sz="2400" dirty="0">
              <a:solidFill>
                <a:schemeClr val="tx1"/>
              </a:solidFill>
              <a:latin typeface="Corbel"/>
              <a:cs typeface="Corbel"/>
            </a:endParaRPr>
          </a:p>
          <a:p>
            <a:pPr marL="354965" indent="-342900">
              <a:lnSpc>
                <a:spcPct val="100000"/>
              </a:lnSpc>
              <a:spcBef>
                <a:spcPts val="1545"/>
              </a:spcBef>
              <a:buFont typeface="Wingdings" panose="05000000000000000000" pitchFamily="2" charset="2"/>
              <a:buChar char="q"/>
              <a:tabLst>
                <a:tab pos="354965" algn="l"/>
                <a:tab pos="355600" algn="l"/>
              </a:tabLst>
            </a:pPr>
            <a:r>
              <a:rPr lang="en-US" sz="2400" spc="-10" dirty="0">
                <a:solidFill>
                  <a:schemeClr val="tx1"/>
                </a:solidFill>
                <a:latin typeface="Corbel"/>
                <a:cs typeface="Corbel"/>
              </a:rPr>
              <a:t>TOOLS</a:t>
            </a:r>
            <a:r>
              <a:rPr lang="en-US" sz="2400" spc="-75" dirty="0">
                <a:solidFill>
                  <a:schemeClr val="tx1"/>
                </a:solidFill>
                <a:latin typeface="Corbel"/>
                <a:cs typeface="Corbel"/>
              </a:rPr>
              <a:t> </a:t>
            </a:r>
            <a:r>
              <a:rPr lang="en-US" sz="2400" dirty="0">
                <a:solidFill>
                  <a:schemeClr val="tx1"/>
                </a:solidFill>
                <a:latin typeface="Corbel"/>
                <a:cs typeface="Corbel"/>
              </a:rPr>
              <a:t>AND</a:t>
            </a:r>
            <a:r>
              <a:rPr lang="en-US" sz="2400" spc="-70" dirty="0">
                <a:solidFill>
                  <a:schemeClr val="tx1"/>
                </a:solidFill>
                <a:latin typeface="Corbel"/>
                <a:cs typeface="Corbel"/>
              </a:rPr>
              <a:t> </a:t>
            </a:r>
            <a:r>
              <a:rPr lang="en-US" sz="2400" spc="-10" dirty="0">
                <a:solidFill>
                  <a:schemeClr val="tx1"/>
                </a:solidFill>
                <a:latin typeface="Corbel"/>
                <a:cs typeface="Corbel"/>
              </a:rPr>
              <a:t>LANGUAGES</a:t>
            </a:r>
            <a:r>
              <a:rPr lang="en-US" sz="2400" spc="-75" dirty="0">
                <a:solidFill>
                  <a:schemeClr val="tx1"/>
                </a:solidFill>
                <a:latin typeface="Corbel"/>
                <a:cs typeface="Corbel"/>
              </a:rPr>
              <a:t> </a:t>
            </a:r>
            <a:r>
              <a:rPr lang="en-US" sz="2400" spc="-20" dirty="0">
                <a:solidFill>
                  <a:schemeClr val="tx1"/>
                </a:solidFill>
                <a:latin typeface="Corbel"/>
                <a:cs typeface="Corbel"/>
              </a:rPr>
              <a:t>USED</a:t>
            </a:r>
            <a:endParaRPr lang="en-US" sz="2400" dirty="0">
              <a:solidFill>
                <a:schemeClr val="tx1"/>
              </a:solidFill>
              <a:latin typeface="Corbel"/>
              <a:cs typeface="Corbel"/>
            </a:endParaRPr>
          </a:p>
          <a:p>
            <a:pPr marL="354965" indent="-342900">
              <a:lnSpc>
                <a:spcPct val="100000"/>
              </a:lnSpc>
              <a:spcBef>
                <a:spcPts val="1540"/>
              </a:spcBef>
              <a:buFont typeface="Wingdings" panose="05000000000000000000" pitchFamily="2" charset="2"/>
              <a:buChar char="q"/>
              <a:tabLst>
                <a:tab pos="354965" algn="l"/>
                <a:tab pos="355600" algn="l"/>
              </a:tabLst>
            </a:pPr>
            <a:r>
              <a:rPr lang="en-US" sz="2400" dirty="0">
                <a:solidFill>
                  <a:schemeClr val="tx1"/>
                </a:solidFill>
                <a:latin typeface="Corbel"/>
                <a:cs typeface="Corbel"/>
              </a:rPr>
              <a:t>KEY</a:t>
            </a:r>
            <a:r>
              <a:rPr lang="en-US" sz="2400" spc="-50" dirty="0">
                <a:solidFill>
                  <a:schemeClr val="tx1"/>
                </a:solidFill>
                <a:latin typeface="Corbel"/>
                <a:cs typeface="Corbel"/>
              </a:rPr>
              <a:t> </a:t>
            </a:r>
            <a:r>
              <a:rPr lang="en-US" sz="2400" spc="-10" dirty="0">
                <a:solidFill>
                  <a:schemeClr val="tx1"/>
                </a:solidFill>
                <a:latin typeface="Corbel"/>
                <a:cs typeface="Corbel"/>
              </a:rPr>
              <a:t>FEATURES</a:t>
            </a:r>
            <a:endParaRPr lang="en-US" sz="2400" dirty="0">
              <a:solidFill>
                <a:schemeClr val="tx1"/>
              </a:solidFill>
              <a:latin typeface="Corbel"/>
              <a:cs typeface="Corbel"/>
            </a:endParaRPr>
          </a:p>
          <a:p>
            <a:pPr marL="354965" indent="-342900">
              <a:lnSpc>
                <a:spcPct val="100000"/>
              </a:lnSpc>
              <a:spcBef>
                <a:spcPts val="1540"/>
              </a:spcBef>
              <a:buFont typeface="Wingdings" panose="05000000000000000000" pitchFamily="2" charset="2"/>
              <a:buChar char="q"/>
              <a:tabLst>
                <a:tab pos="354965" algn="l"/>
                <a:tab pos="355600" algn="l"/>
              </a:tabLst>
            </a:pPr>
            <a:r>
              <a:rPr lang="en-US" sz="2400" spc="-20" dirty="0">
                <a:solidFill>
                  <a:schemeClr val="tx1"/>
                </a:solidFill>
                <a:latin typeface="Corbel"/>
                <a:cs typeface="Corbel"/>
              </a:rPr>
              <a:t>E-</a:t>
            </a:r>
            <a:r>
              <a:rPr lang="en-US" sz="2400" dirty="0">
                <a:solidFill>
                  <a:schemeClr val="tx1"/>
                </a:solidFill>
                <a:latin typeface="Corbel"/>
                <a:cs typeface="Corbel"/>
              </a:rPr>
              <a:t>R</a:t>
            </a:r>
            <a:r>
              <a:rPr lang="en-US" sz="2400" spc="-5" dirty="0">
                <a:solidFill>
                  <a:schemeClr val="tx1"/>
                </a:solidFill>
                <a:latin typeface="Corbel"/>
                <a:cs typeface="Corbel"/>
              </a:rPr>
              <a:t> </a:t>
            </a:r>
            <a:r>
              <a:rPr lang="en-US" sz="2400" spc="-10" dirty="0">
                <a:solidFill>
                  <a:schemeClr val="tx1"/>
                </a:solidFill>
                <a:latin typeface="Corbel"/>
                <a:cs typeface="Corbel"/>
              </a:rPr>
              <a:t>DIAGRAM</a:t>
            </a:r>
            <a:endParaRPr lang="en-US" sz="2400" dirty="0">
              <a:solidFill>
                <a:schemeClr val="tx1"/>
              </a:solidFill>
              <a:latin typeface="Corbel"/>
              <a:cs typeface="Corbel"/>
            </a:endParaRPr>
          </a:p>
          <a:p>
            <a:pPr marL="354965" indent="-342900">
              <a:lnSpc>
                <a:spcPct val="100000"/>
              </a:lnSpc>
              <a:spcBef>
                <a:spcPts val="1545"/>
              </a:spcBef>
              <a:buFont typeface="Wingdings" panose="05000000000000000000" pitchFamily="2" charset="2"/>
              <a:buChar char="q"/>
              <a:tabLst>
                <a:tab pos="354965" algn="l"/>
                <a:tab pos="355600" algn="l"/>
              </a:tabLst>
            </a:pPr>
            <a:r>
              <a:rPr lang="en-US" sz="2400" spc="-10" dirty="0">
                <a:solidFill>
                  <a:schemeClr val="tx1"/>
                </a:solidFill>
                <a:latin typeface="Corbel"/>
                <a:cs typeface="Corbel"/>
              </a:rPr>
              <a:t>SCREENSHOTS</a:t>
            </a:r>
            <a:endParaRPr lang="en-US" sz="2400" dirty="0">
              <a:solidFill>
                <a:schemeClr val="tx1"/>
              </a:solidFill>
              <a:latin typeface="Corbel"/>
              <a:cs typeface="Corbel"/>
            </a:endParaRPr>
          </a:p>
          <a:p>
            <a:pPr marL="354965" indent="-342900">
              <a:lnSpc>
                <a:spcPct val="100000"/>
              </a:lnSpc>
              <a:spcBef>
                <a:spcPts val="1540"/>
              </a:spcBef>
              <a:buFont typeface="Wingdings" panose="05000000000000000000" pitchFamily="2" charset="2"/>
              <a:buChar char="q"/>
              <a:tabLst>
                <a:tab pos="354965" algn="l"/>
                <a:tab pos="355600" algn="l"/>
              </a:tabLst>
            </a:pPr>
            <a:r>
              <a:rPr lang="en-US" sz="2400" spc="-10" dirty="0">
                <a:solidFill>
                  <a:schemeClr val="tx1"/>
                </a:solidFill>
                <a:latin typeface="Corbel"/>
                <a:cs typeface="Corbel"/>
              </a:rPr>
              <a:t>CONCLUSION</a:t>
            </a:r>
            <a:endParaRPr lang="en-US" sz="2400" dirty="0">
              <a:solidFill>
                <a:schemeClr val="tx1"/>
              </a:solidFill>
              <a:latin typeface="Corbel"/>
              <a:cs typeface="Corbel"/>
            </a:endParaRPr>
          </a:p>
          <a:p>
            <a:pPr>
              <a:buFont typeface="Wingdings" panose="05000000000000000000" pitchFamily="2" charset="2"/>
              <a:buChar char="q"/>
            </a:pPr>
            <a:endParaRPr lang="en-IN" sz="2400" dirty="0">
              <a:solidFill>
                <a:schemeClr val="tx1"/>
              </a:solidFill>
            </a:endParaRPr>
          </a:p>
        </p:txBody>
      </p:sp>
    </p:spTree>
    <p:extLst>
      <p:ext uri="{BB962C8B-B14F-4D97-AF65-F5344CB8AC3E}">
        <p14:creationId xmlns:p14="http://schemas.microsoft.com/office/powerpoint/2010/main" val="2064957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70043-16DA-B682-E3A9-4A2C8D173DEA}"/>
              </a:ext>
            </a:extLst>
          </p:cNvPr>
          <p:cNvSpPr>
            <a:spLocks noGrp="1"/>
          </p:cNvSpPr>
          <p:nvPr>
            <p:ph type="title"/>
          </p:nvPr>
        </p:nvSpPr>
        <p:spPr/>
        <p:txBody>
          <a:bodyPr/>
          <a:lstStyle/>
          <a:p>
            <a:r>
              <a:rPr lang="en-IN" spc="-10" dirty="0"/>
              <a:t>INTRODUCTION-</a:t>
            </a:r>
            <a:endParaRPr lang="en-IN" dirty="0"/>
          </a:p>
        </p:txBody>
      </p:sp>
      <p:sp>
        <p:nvSpPr>
          <p:cNvPr id="3" name="Content Placeholder 2">
            <a:extLst>
              <a:ext uri="{FF2B5EF4-FFF2-40B4-BE49-F238E27FC236}">
                <a16:creationId xmlns:a16="http://schemas.microsoft.com/office/drawing/2014/main" id="{6F7FB27C-DD92-C9AE-D844-28EDC1428224}"/>
              </a:ext>
            </a:extLst>
          </p:cNvPr>
          <p:cNvSpPr>
            <a:spLocks noGrp="1"/>
          </p:cNvSpPr>
          <p:nvPr>
            <p:ph idx="1"/>
          </p:nvPr>
        </p:nvSpPr>
        <p:spPr/>
        <p:txBody>
          <a:bodyPr>
            <a:normAutofit/>
          </a:bodyPr>
          <a:lstStyle/>
          <a:p>
            <a:pPr algn="just">
              <a:lnSpc>
                <a:spcPct val="107000"/>
              </a:lnSpc>
              <a:spcAft>
                <a:spcPts val="800"/>
              </a:spcAft>
            </a:pPr>
            <a:r>
              <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Online Job Portal Management System is an excellent solution for the Jobseekers and recruiters to give or get job easily. It helps Jobseekers to search the jobs easily and also help recruiters to get students with the required skills easily. Recruiter can add or delete the jobs posted. Jobseekers can apply or reject the jobs offer. Jobseekers and Recruiters can post, delete or update their profile.</a:t>
            </a:r>
          </a:p>
          <a:p>
            <a:pPr algn="just">
              <a:lnSpc>
                <a:spcPct val="107000"/>
              </a:lnSpc>
              <a:spcAft>
                <a:spcPts val="800"/>
              </a:spcAft>
              <a:buFont typeface="Wingdings" panose="05000000000000000000" pitchFamily="2" charset="2"/>
              <a:buChar char="Ø"/>
            </a:pPr>
            <a:r>
              <a:rPr lang="en-IN" sz="2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Hence, the system helps to get information of posts in company, contact details and admin and managers can easily manage the large data of online job information.</a:t>
            </a:r>
          </a:p>
          <a:p>
            <a:endParaRPr lang="en-IN" sz="2000" dirty="0">
              <a:solidFill>
                <a:schemeClr val="tx1"/>
              </a:solidFill>
            </a:endParaRPr>
          </a:p>
        </p:txBody>
      </p:sp>
    </p:spTree>
    <p:extLst>
      <p:ext uri="{BB962C8B-B14F-4D97-AF65-F5344CB8AC3E}">
        <p14:creationId xmlns:p14="http://schemas.microsoft.com/office/powerpoint/2010/main" val="3386610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AF0CB-1F56-24FD-999A-94FDAC5DB3BF}"/>
              </a:ext>
            </a:extLst>
          </p:cNvPr>
          <p:cNvSpPr>
            <a:spLocks noGrp="1"/>
          </p:cNvSpPr>
          <p:nvPr>
            <p:ph type="title"/>
          </p:nvPr>
        </p:nvSpPr>
        <p:spPr/>
        <p:txBody>
          <a:bodyPr>
            <a:normAutofit/>
          </a:bodyPr>
          <a:lstStyle/>
          <a:p>
            <a:r>
              <a:rPr lang="en-IN" sz="5400" spc="-10" dirty="0"/>
              <a:t>OBJECTIVE-</a:t>
            </a:r>
            <a:endParaRPr lang="en-IN" sz="5400" dirty="0"/>
          </a:p>
        </p:txBody>
      </p:sp>
      <p:sp>
        <p:nvSpPr>
          <p:cNvPr id="3" name="Content Placeholder 2">
            <a:extLst>
              <a:ext uri="{FF2B5EF4-FFF2-40B4-BE49-F238E27FC236}">
                <a16:creationId xmlns:a16="http://schemas.microsoft.com/office/drawing/2014/main" id="{C8805F8E-3725-52E1-4441-DB2DFBF1574B}"/>
              </a:ext>
            </a:extLst>
          </p:cNvPr>
          <p:cNvSpPr>
            <a:spLocks noGrp="1"/>
          </p:cNvSpPr>
          <p:nvPr>
            <p:ph idx="1"/>
          </p:nvPr>
        </p:nvSpPr>
        <p:spPr>
          <a:xfrm>
            <a:off x="677334" y="1930401"/>
            <a:ext cx="8596668" cy="4110962"/>
          </a:xfrm>
        </p:spPr>
        <p:txBody>
          <a:bodyPr>
            <a:normAutofit/>
          </a:bodyPr>
          <a:lstStyle/>
          <a:p>
            <a:pPr marL="415925" marR="10160" indent="-403860" algn="just">
              <a:lnSpc>
                <a:spcPct val="148300"/>
              </a:lnSpc>
              <a:spcBef>
                <a:spcPts val="100"/>
              </a:spcBef>
              <a:buFont typeface="Segoe UI Symbol"/>
              <a:buChar char="❑"/>
              <a:tabLst>
                <a:tab pos="416559" algn="l"/>
              </a:tabLst>
            </a:pPr>
            <a:r>
              <a:rPr lang="en-US" sz="2000" spc="75" dirty="0">
                <a:solidFill>
                  <a:schemeClr val="tx1"/>
                </a:solidFill>
                <a:latin typeface="Cambria"/>
                <a:cs typeface="Cambria"/>
              </a:rPr>
              <a:t>The</a:t>
            </a:r>
            <a:r>
              <a:rPr lang="en-US" sz="2000" spc="185" dirty="0">
                <a:solidFill>
                  <a:schemeClr val="tx1"/>
                </a:solidFill>
                <a:latin typeface="Cambria"/>
                <a:cs typeface="Cambria"/>
              </a:rPr>
              <a:t> </a:t>
            </a:r>
            <a:r>
              <a:rPr lang="en-US" sz="2000" spc="120" dirty="0">
                <a:solidFill>
                  <a:schemeClr val="tx1"/>
                </a:solidFill>
                <a:latin typeface="Cambria"/>
                <a:cs typeface="Cambria"/>
              </a:rPr>
              <a:t>main</a:t>
            </a:r>
            <a:r>
              <a:rPr lang="en-US" sz="2000" spc="175" dirty="0">
                <a:solidFill>
                  <a:schemeClr val="tx1"/>
                </a:solidFill>
                <a:latin typeface="Cambria"/>
                <a:cs typeface="Cambria"/>
              </a:rPr>
              <a:t> </a:t>
            </a:r>
            <a:r>
              <a:rPr lang="en-US" sz="2000" spc="70" dirty="0">
                <a:solidFill>
                  <a:schemeClr val="tx1"/>
                </a:solidFill>
                <a:latin typeface="Cambria"/>
                <a:cs typeface="Cambria"/>
              </a:rPr>
              <a:t>objective</a:t>
            </a:r>
            <a:r>
              <a:rPr lang="en-US" sz="2000" spc="225" dirty="0">
                <a:solidFill>
                  <a:schemeClr val="tx1"/>
                </a:solidFill>
                <a:latin typeface="Cambria"/>
                <a:cs typeface="Cambria"/>
              </a:rPr>
              <a:t> </a:t>
            </a:r>
            <a:r>
              <a:rPr lang="en-US" sz="2000" spc="85" dirty="0">
                <a:solidFill>
                  <a:schemeClr val="tx1"/>
                </a:solidFill>
                <a:latin typeface="Cambria"/>
                <a:cs typeface="Cambria"/>
              </a:rPr>
              <a:t>of</a:t>
            </a:r>
            <a:r>
              <a:rPr lang="en-US" sz="2000" spc="140" dirty="0">
                <a:solidFill>
                  <a:schemeClr val="tx1"/>
                </a:solidFill>
                <a:latin typeface="Cambria"/>
                <a:cs typeface="Cambria"/>
              </a:rPr>
              <a:t> </a:t>
            </a:r>
            <a:r>
              <a:rPr lang="en-US" sz="2000" spc="70" dirty="0">
                <a:solidFill>
                  <a:schemeClr val="tx1"/>
                </a:solidFill>
                <a:latin typeface="Cambria"/>
                <a:cs typeface="Cambria"/>
              </a:rPr>
              <a:t>the</a:t>
            </a:r>
            <a:r>
              <a:rPr lang="en-US" sz="2000" spc="165" dirty="0">
                <a:solidFill>
                  <a:schemeClr val="tx1"/>
                </a:solidFill>
                <a:latin typeface="Cambria"/>
                <a:cs typeface="Cambria"/>
              </a:rPr>
              <a:t> </a:t>
            </a:r>
            <a:r>
              <a:rPr lang="en-US" sz="2000" spc="65" dirty="0">
                <a:solidFill>
                  <a:schemeClr val="tx1"/>
                </a:solidFill>
                <a:latin typeface="Cambria"/>
                <a:cs typeface="Cambria"/>
              </a:rPr>
              <a:t>project</a:t>
            </a:r>
            <a:r>
              <a:rPr lang="en-US" sz="2000" spc="240" dirty="0">
                <a:solidFill>
                  <a:schemeClr val="tx1"/>
                </a:solidFill>
                <a:latin typeface="Cambria"/>
                <a:cs typeface="Cambria"/>
              </a:rPr>
              <a:t> </a:t>
            </a:r>
            <a:r>
              <a:rPr lang="en-US" sz="2000" dirty="0">
                <a:solidFill>
                  <a:schemeClr val="tx1"/>
                </a:solidFill>
                <a:latin typeface="Cambria"/>
                <a:cs typeface="Cambria"/>
              </a:rPr>
              <a:t>is</a:t>
            </a:r>
            <a:r>
              <a:rPr lang="en-US" sz="2000" spc="135" dirty="0">
                <a:solidFill>
                  <a:schemeClr val="tx1"/>
                </a:solidFill>
                <a:latin typeface="Cambria"/>
                <a:cs typeface="Cambria"/>
              </a:rPr>
              <a:t> </a:t>
            </a:r>
            <a:r>
              <a:rPr lang="en-US" sz="2000" dirty="0">
                <a:solidFill>
                  <a:schemeClr val="tx1"/>
                </a:solidFill>
                <a:latin typeface="Cambria"/>
                <a:cs typeface="Cambria"/>
              </a:rPr>
              <a:t>to</a:t>
            </a:r>
            <a:r>
              <a:rPr lang="en-US" sz="2000" spc="245" dirty="0">
                <a:solidFill>
                  <a:schemeClr val="tx1"/>
                </a:solidFill>
                <a:latin typeface="Cambria"/>
                <a:cs typeface="Cambria"/>
              </a:rPr>
              <a:t> </a:t>
            </a:r>
            <a:r>
              <a:rPr lang="en-US" sz="2000" spc="70" dirty="0">
                <a:solidFill>
                  <a:schemeClr val="tx1"/>
                </a:solidFill>
                <a:latin typeface="Cambria"/>
                <a:cs typeface="Cambria"/>
              </a:rPr>
              <a:t>create</a:t>
            </a:r>
            <a:r>
              <a:rPr lang="en-US" sz="2000" spc="60" dirty="0">
                <a:solidFill>
                  <a:schemeClr val="tx1"/>
                </a:solidFill>
                <a:latin typeface="Cambria"/>
                <a:cs typeface="Cambria"/>
              </a:rPr>
              <a:t> an online portal syst</a:t>
            </a:r>
            <a:r>
              <a:rPr lang="en-US" sz="2000" spc="70" dirty="0">
                <a:solidFill>
                  <a:schemeClr val="tx1"/>
                </a:solidFill>
                <a:latin typeface="Cambria"/>
                <a:cs typeface="Cambria"/>
              </a:rPr>
              <a:t>em,</a:t>
            </a:r>
            <a:r>
              <a:rPr lang="en-US" sz="2000" spc="160" dirty="0">
                <a:solidFill>
                  <a:schemeClr val="tx1"/>
                </a:solidFill>
                <a:latin typeface="Cambria"/>
                <a:cs typeface="Cambria"/>
              </a:rPr>
              <a:t> </a:t>
            </a:r>
            <a:r>
              <a:rPr lang="en-US" sz="2000" spc="65" dirty="0">
                <a:solidFill>
                  <a:schemeClr val="tx1"/>
                </a:solidFill>
                <a:latin typeface="Cambria"/>
                <a:cs typeface="Cambria"/>
              </a:rPr>
              <a:t>that</a:t>
            </a:r>
            <a:r>
              <a:rPr lang="en-US" sz="2000" spc="215" dirty="0">
                <a:solidFill>
                  <a:schemeClr val="tx1"/>
                </a:solidFill>
                <a:latin typeface="Cambria"/>
                <a:cs typeface="Cambria"/>
              </a:rPr>
              <a:t> </a:t>
            </a:r>
            <a:r>
              <a:rPr lang="en-US" sz="2000" spc="80" dirty="0">
                <a:solidFill>
                  <a:schemeClr val="tx1"/>
                </a:solidFill>
                <a:latin typeface="Cambria"/>
                <a:cs typeface="Cambria"/>
              </a:rPr>
              <a:t>allows to find jobs and recruit people.</a:t>
            </a:r>
          </a:p>
          <a:p>
            <a:pPr marL="415925" marR="10160" indent="-403860" algn="just">
              <a:lnSpc>
                <a:spcPct val="148300"/>
              </a:lnSpc>
              <a:spcBef>
                <a:spcPts val="100"/>
              </a:spcBef>
              <a:buFont typeface="Segoe UI Symbol"/>
              <a:buChar char="❑"/>
              <a:tabLst>
                <a:tab pos="416559" algn="l"/>
              </a:tabLst>
            </a:pPr>
            <a:r>
              <a:rPr lang="en-US" sz="2000" spc="80" dirty="0">
                <a:solidFill>
                  <a:schemeClr val="tx1"/>
                </a:solidFill>
                <a:latin typeface="Cambria"/>
                <a:cs typeface="Cambria"/>
              </a:rPr>
              <a:t>From the website, admin can control the number of users, number of jobs.</a:t>
            </a:r>
          </a:p>
          <a:p>
            <a:pPr marL="415925" marR="10160" indent="-403860" algn="just">
              <a:lnSpc>
                <a:spcPct val="148300"/>
              </a:lnSpc>
              <a:spcBef>
                <a:spcPts val="100"/>
              </a:spcBef>
              <a:buFont typeface="Segoe UI Symbol"/>
              <a:buChar char="❑"/>
              <a:tabLst>
                <a:tab pos="416559" algn="l"/>
              </a:tabLst>
            </a:pPr>
            <a:r>
              <a:rPr lang="en-US" sz="2000" spc="80" dirty="0">
                <a:solidFill>
                  <a:schemeClr val="tx1"/>
                </a:solidFill>
                <a:latin typeface="Cambria"/>
                <a:cs typeface="Cambria"/>
              </a:rPr>
              <a:t>Recruiters can login and post job and select candidates.</a:t>
            </a:r>
          </a:p>
          <a:p>
            <a:pPr marL="415925" marR="10160" indent="-403860" algn="just">
              <a:lnSpc>
                <a:spcPct val="148300"/>
              </a:lnSpc>
              <a:spcBef>
                <a:spcPts val="100"/>
              </a:spcBef>
              <a:buFont typeface="Segoe UI Symbol"/>
              <a:buChar char="❑"/>
              <a:tabLst>
                <a:tab pos="416559" algn="l"/>
              </a:tabLst>
            </a:pPr>
            <a:r>
              <a:rPr lang="en-US" sz="2000" spc="80" dirty="0">
                <a:solidFill>
                  <a:schemeClr val="tx1"/>
                </a:solidFill>
                <a:latin typeface="Cambria"/>
                <a:cs typeface="Cambria"/>
              </a:rPr>
              <a:t>Users can login and apply to the jobs.</a:t>
            </a:r>
            <a:endParaRPr lang="en-US" sz="2000" dirty="0">
              <a:solidFill>
                <a:schemeClr val="tx1"/>
              </a:solidFill>
              <a:latin typeface="Cambria"/>
              <a:cs typeface="Cambria"/>
            </a:endParaRPr>
          </a:p>
          <a:p>
            <a:endParaRPr lang="en-IN" sz="2000" dirty="0">
              <a:solidFill>
                <a:schemeClr val="tx1"/>
              </a:solidFill>
            </a:endParaRPr>
          </a:p>
        </p:txBody>
      </p:sp>
    </p:spTree>
    <p:extLst>
      <p:ext uri="{BB962C8B-B14F-4D97-AF65-F5344CB8AC3E}">
        <p14:creationId xmlns:p14="http://schemas.microsoft.com/office/powerpoint/2010/main" val="1438255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C2A19-2D87-ACB2-9BC1-FA633FA96007}"/>
              </a:ext>
            </a:extLst>
          </p:cNvPr>
          <p:cNvSpPr>
            <a:spLocks noGrp="1"/>
          </p:cNvSpPr>
          <p:nvPr>
            <p:ph type="title"/>
          </p:nvPr>
        </p:nvSpPr>
        <p:spPr/>
        <p:txBody>
          <a:bodyPr/>
          <a:lstStyle/>
          <a:p>
            <a:r>
              <a:rPr lang="en-IN" dirty="0"/>
              <a:t>TOOLS</a:t>
            </a:r>
            <a:r>
              <a:rPr lang="en-IN" spc="-90" dirty="0"/>
              <a:t> </a:t>
            </a:r>
            <a:r>
              <a:rPr lang="en-IN" dirty="0"/>
              <a:t>&amp;</a:t>
            </a:r>
            <a:r>
              <a:rPr lang="en-IN" spc="-85" dirty="0"/>
              <a:t> </a:t>
            </a:r>
            <a:r>
              <a:rPr lang="en-IN" dirty="0"/>
              <a:t>LANGUAGE</a:t>
            </a:r>
            <a:r>
              <a:rPr lang="en-IN" spc="-90" dirty="0"/>
              <a:t> </a:t>
            </a:r>
            <a:r>
              <a:rPr lang="en-IN" spc="-10" dirty="0"/>
              <a:t>USED-</a:t>
            </a:r>
            <a:endParaRPr lang="en-IN" dirty="0"/>
          </a:p>
        </p:txBody>
      </p:sp>
      <p:sp>
        <p:nvSpPr>
          <p:cNvPr id="3" name="Content Placeholder 2">
            <a:extLst>
              <a:ext uri="{FF2B5EF4-FFF2-40B4-BE49-F238E27FC236}">
                <a16:creationId xmlns:a16="http://schemas.microsoft.com/office/drawing/2014/main" id="{6BA6BA36-4353-6B72-C4B9-F9E0D0D46A15}"/>
              </a:ext>
            </a:extLst>
          </p:cNvPr>
          <p:cNvSpPr>
            <a:spLocks noGrp="1"/>
          </p:cNvSpPr>
          <p:nvPr>
            <p:ph idx="1"/>
          </p:nvPr>
        </p:nvSpPr>
        <p:spPr>
          <a:xfrm>
            <a:off x="746448" y="1716833"/>
            <a:ext cx="8527553" cy="4324529"/>
          </a:xfrm>
        </p:spPr>
        <p:txBody>
          <a:bodyPr>
            <a:normAutofit/>
          </a:bodyPr>
          <a:lstStyle/>
          <a:p>
            <a:pPr marL="353060" indent="-340995">
              <a:lnSpc>
                <a:spcPts val="2090"/>
              </a:lnSpc>
              <a:spcBef>
                <a:spcPts val="95"/>
              </a:spcBef>
              <a:buSzPct val="77777"/>
              <a:buFont typeface="Arial"/>
              <a:buChar char="□"/>
              <a:tabLst>
                <a:tab pos="353060" algn="l"/>
                <a:tab pos="353695" algn="l"/>
              </a:tabLst>
            </a:pPr>
            <a:r>
              <a:rPr lang="en-IN" sz="2000" spc="114" dirty="0">
                <a:solidFill>
                  <a:schemeClr val="tx1"/>
                </a:solidFill>
                <a:latin typeface="Cambria"/>
                <a:cs typeface="Cambria"/>
              </a:rPr>
              <a:t>HTML</a:t>
            </a:r>
            <a:endParaRPr lang="en-IN" sz="2000" dirty="0">
              <a:solidFill>
                <a:schemeClr val="tx1"/>
              </a:solidFill>
              <a:latin typeface="Cambria"/>
              <a:cs typeface="Cambria"/>
            </a:endParaRPr>
          </a:p>
          <a:p>
            <a:pPr marL="353060" indent="-340995">
              <a:lnSpc>
                <a:spcPts val="2025"/>
              </a:lnSpc>
              <a:buSzPct val="77777"/>
              <a:buFont typeface="Arial"/>
              <a:buChar char="□"/>
              <a:tabLst>
                <a:tab pos="353060" algn="l"/>
                <a:tab pos="353695" algn="l"/>
              </a:tabLst>
            </a:pPr>
            <a:r>
              <a:rPr lang="en-IN" sz="2000" spc="55" dirty="0">
                <a:solidFill>
                  <a:schemeClr val="tx1"/>
                </a:solidFill>
                <a:latin typeface="Cambria"/>
                <a:cs typeface="Cambria"/>
              </a:rPr>
              <a:t>CSS</a:t>
            </a:r>
            <a:endParaRPr lang="en-IN" sz="2000" dirty="0">
              <a:solidFill>
                <a:schemeClr val="tx1"/>
              </a:solidFill>
              <a:latin typeface="Cambria"/>
              <a:cs typeface="Cambria"/>
            </a:endParaRPr>
          </a:p>
          <a:p>
            <a:pPr marL="353060" indent="-340995">
              <a:lnSpc>
                <a:spcPts val="2025"/>
              </a:lnSpc>
              <a:buSzPct val="77777"/>
              <a:buFont typeface="Arial"/>
              <a:buChar char="□"/>
              <a:tabLst>
                <a:tab pos="353060" algn="l"/>
                <a:tab pos="353695" algn="l"/>
              </a:tabLst>
            </a:pPr>
            <a:r>
              <a:rPr lang="en-IN" sz="2000" spc="60" dirty="0">
                <a:solidFill>
                  <a:schemeClr val="tx1"/>
                </a:solidFill>
                <a:latin typeface="Cambria"/>
                <a:cs typeface="Cambria"/>
              </a:rPr>
              <a:t>JavaScript</a:t>
            </a:r>
            <a:endParaRPr lang="en-IN" sz="2000" dirty="0">
              <a:solidFill>
                <a:schemeClr val="tx1"/>
              </a:solidFill>
              <a:latin typeface="Cambria"/>
              <a:cs typeface="Cambria"/>
            </a:endParaRPr>
          </a:p>
          <a:p>
            <a:pPr marL="353060" indent="-340995">
              <a:lnSpc>
                <a:spcPts val="2025"/>
              </a:lnSpc>
              <a:buSzPct val="77777"/>
              <a:buFont typeface="Arial"/>
              <a:buChar char="□"/>
              <a:tabLst>
                <a:tab pos="353060" algn="l"/>
                <a:tab pos="353695" algn="l"/>
              </a:tabLst>
            </a:pPr>
            <a:r>
              <a:rPr lang="en-IN" sz="2000" spc="75" dirty="0">
                <a:solidFill>
                  <a:schemeClr val="tx1"/>
                </a:solidFill>
                <a:latin typeface="Cambria"/>
                <a:cs typeface="Cambria"/>
              </a:rPr>
              <a:t>Mongodb</a:t>
            </a:r>
          </a:p>
          <a:p>
            <a:pPr marL="353060" indent="-340995">
              <a:lnSpc>
                <a:spcPts val="2025"/>
              </a:lnSpc>
              <a:buSzPct val="77777"/>
              <a:buFont typeface="Arial"/>
              <a:buChar char="□"/>
              <a:tabLst>
                <a:tab pos="353060" algn="l"/>
                <a:tab pos="353695" algn="l"/>
              </a:tabLst>
            </a:pPr>
            <a:r>
              <a:rPr lang="en-IN" sz="2000" spc="75" dirty="0">
                <a:solidFill>
                  <a:schemeClr val="tx1"/>
                </a:solidFill>
                <a:latin typeface="Cambria"/>
                <a:cs typeface="Cambria"/>
              </a:rPr>
              <a:t>Nodejs</a:t>
            </a:r>
            <a:endParaRPr lang="en-IN" sz="2000" dirty="0">
              <a:solidFill>
                <a:schemeClr val="tx1"/>
              </a:solidFill>
              <a:latin typeface="Cambria"/>
              <a:cs typeface="Cambria"/>
            </a:endParaRPr>
          </a:p>
          <a:p>
            <a:endParaRPr lang="en-IN" sz="2000" dirty="0">
              <a:solidFill>
                <a:schemeClr val="tx1"/>
              </a:solidFill>
            </a:endParaRPr>
          </a:p>
        </p:txBody>
      </p:sp>
    </p:spTree>
    <p:extLst>
      <p:ext uri="{BB962C8B-B14F-4D97-AF65-F5344CB8AC3E}">
        <p14:creationId xmlns:p14="http://schemas.microsoft.com/office/powerpoint/2010/main" val="559674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678BD-54A5-09CD-17F5-34F7C68012F8}"/>
              </a:ext>
            </a:extLst>
          </p:cNvPr>
          <p:cNvSpPr>
            <a:spLocks noGrp="1"/>
          </p:cNvSpPr>
          <p:nvPr>
            <p:ph type="title"/>
          </p:nvPr>
        </p:nvSpPr>
        <p:spPr/>
        <p:txBody>
          <a:bodyPr>
            <a:normAutofit fontScale="90000"/>
          </a:bodyPr>
          <a:lstStyle/>
          <a:p>
            <a:r>
              <a:rPr lang="en-IN" dirty="0"/>
              <a:t>KEY</a:t>
            </a:r>
            <a:r>
              <a:rPr lang="en-IN" spc="-60" dirty="0"/>
              <a:t> </a:t>
            </a:r>
            <a:r>
              <a:rPr lang="en-IN" spc="-10" dirty="0"/>
              <a:t>FEATURES-</a:t>
            </a:r>
            <a:br>
              <a:rPr lang="en-IN" spc="-10" dirty="0"/>
            </a:br>
            <a:br>
              <a:rPr lang="en-IN" spc="-10" dirty="0"/>
            </a:br>
            <a:r>
              <a:rPr lang="en-IN" sz="2800" b="1" spc="-10" dirty="0">
                <a:solidFill>
                  <a:schemeClr val="tx1"/>
                </a:solidFill>
              </a:rPr>
              <a:t>Employers Page:</a:t>
            </a:r>
            <a:endParaRPr lang="en-IN" sz="2800" b="1" dirty="0">
              <a:solidFill>
                <a:schemeClr val="tx1"/>
              </a:solidFill>
            </a:endParaRPr>
          </a:p>
        </p:txBody>
      </p:sp>
      <p:sp>
        <p:nvSpPr>
          <p:cNvPr id="3" name="Content Placeholder 2">
            <a:extLst>
              <a:ext uri="{FF2B5EF4-FFF2-40B4-BE49-F238E27FC236}">
                <a16:creationId xmlns:a16="http://schemas.microsoft.com/office/drawing/2014/main" id="{8B64A9BB-6B8B-CC45-6AC5-0DF04EDB3AC9}"/>
              </a:ext>
            </a:extLst>
          </p:cNvPr>
          <p:cNvSpPr>
            <a:spLocks noGrp="1"/>
          </p:cNvSpPr>
          <p:nvPr>
            <p:ph idx="1"/>
          </p:nvPr>
        </p:nvSpPr>
        <p:spPr>
          <a:xfrm>
            <a:off x="1050558" y="2272556"/>
            <a:ext cx="8596668" cy="3880773"/>
          </a:xfrm>
        </p:spPr>
        <p:txBody>
          <a:bodyPr/>
          <a:lstStyle/>
          <a:p>
            <a:pPr marL="297815" indent="-285750">
              <a:lnSpc>
                <a:spcPct val="100000"/>
              </a:lnSpc>
              <a:spcBef>
                <a:spcPts val="1639"/>
              </a:spcBef>
              <a:buFont typeface="Wingdings" panose="05000000000000000000" pitchFamily="2" charset="2"/>
              <a:buChar char="q"/>
              <a:tabLst>
                <a:tab pos="954405" algn="l"/>
                <a:tab pos="955040" algn="l"/>
              </a:tabLst>
            </a:pPr>
            <a:r>
              <a:rPr lang="en-US" sz="1800" spc="190" dirty="0">
                <a:solidFill>
                  <a:schemeClr val="tx1"/>
                </a:solidFill>
                <a:latin typeface="Cambria"/>
                <a:cs typeface="Cambria"/>
              </a:rPr>
              <a:t>A</a:t>
            </a:r>
            <a:r>
              <a:rPr lang="en-US" sz="1800" spc="100" dirty="0">
                <a:solidFill>
                  <a:schemeClr val="tx1"/>
                </a:solidFill>
                <a:latin typeface="Cambria"/>
                <a:cs typeface="Cambria"/>
              </a:rPr>
              <a:t> </a:t>
            </a:r>
            <a:r>
              <a:rPr lang="en-US" spc="180" dirty="0">
                <a:solidFill>
                  <a:schemeClr val="tx1"/>
                </a:solidFill>
                <a:latin typeface="Cambria"/>
                <a:cs typeface="Cambria"/>
              </a:rPr>
              <a:t>signup</a:t>
            </a:r>
            <a:r>
              <a:rPr lang="en-US" sz="1800" spc="100" dirty="0">
                <a:solidFill>
                  <a:schemeClr val="tx1"/>
                </a:solidFill>
                <a:latin typeface="Cambria"/>
                <a:cs typeface="Cambria"/>
              </a:rPr>
              <a:t> </a:t>
            </a:r>
            <a:r>
              <a:rPr lang="en-US" sz="1800" spc="120" dirty="0">
                <a:solidFill>
                  <a:schemeClr val="tx1"/>
                </a:solidFill>
                <a:latin typeface="Cambria"/>
                <a:cs typeface="Cambria"/>
              </a:rPr>
              <a:t>page</a:t>
            </a:r>
            <a:r>
              <a:rPr lang="en-US" sz="1800" spc="125" dirty="0">
                <a:solidFill>
                  <a:schemeClr val="tx1"/>
                </a:solidFill>
                <a:latin typeface="Cambria"/>
                <a:cs typeface="Cambria"/>
              </a:rPr>
              <a:t> shows the signup of Jobseekers, recruiters, admin.</a:t>
            </a:r>
          </a:p>
          <a:p>
            <a:pPr marL="12065" indent="0">
              <a:lnSpc>
                <a:spcPct val="100000"/>
              </a:lnSpc>
              <a:spcBef>
                <a:spcPts val="1639"/>
              </a:spcBef>
              <a:buNone/>
              <a:tabLst>
                <a:tab pos="954405" algn="l"/>
                <a:tab pos="955040" algn="l"/>
              </a:tabLst>
            </a:pPr>
            <a:endParaRPr lang="en-US" sz="1800" dirty="0">
              <a:solidFill>
                <a:schemeClr val="tx1"/>
              </a:solidFill>
              <a:latin typeface="Cambria"/>
              <a:cs typeface="Cambria"/>
            </a:endParaRPr>
          </a:p>
          <a:p>
            <a:pPr marL="297815" indent="-285750">
              <a:lnSpc>
                <a:spcPct val="100000"/>
              </a:lnSpc>
              <a:spcBef>
                <a:spcPts val="1545"/>
              </a:spcBef>
              <a:buFont typeface="Wingdings" panose="05000000000000000000" pitchFamily="2" charset="2"/>
              <a:buChar char="q"/>
              <a:tabLst>
                <a:tab pos="954405" algn="l"/>
                <a:tab pos="955040" algn="l"/>
              </a:tabLst>
            </a:pPr>
            <a:r>
              <a:rPr lang="en-US" sz="1800" spc="110" dirty="0">
                <a:solidFill>
                  <a:schemeClr val="tx1"/>
                </a:solidFill>
                <a:latin typeface="Cambria"/>
                <a:cs typeface="Cambria"/>
              </a:rPr>
              <a:t>After Recruiters login it will show </a:t>
            </a:r>
            <a:r>
              <a:rPr lang="en-US" spc="110" dirty="0">
                <a:solidFill>
                  <a:schemeClr val="tx1"/>
                </a:solidFill>
                <a:latin typeface="Cambria"/>
                <a:cs typeface="Cambria"/>
              </a:rPr>
              <a:t>profiles of Jobseekers who wants Jobs </a:t>
            </a:r>
            <a:r>
              <a:rPr lang="en-US" sz="1800" spc="110" dirty="0">
                <a:solidFill>
                  <a:schemeClr val="tx1"/>
                </a:solidFill>
                <a:latin typeface="Cambria"/>
                <a:cs typeface="Cambria"/>
              </a:rPr>
              <a:t>and Employer can Recruit  them</a:t>
            </a:r>
          </a:p>
          <a:p>
            <a:pPr marL="12065" indent="0">
              <a:lnSpc>
                <a:spcPct val="100000"/>
              </a:lnSpc>
              <a:spcBef>
                <a:spcPts val="1545"/>
              </a:spcBef>
              <a:buNone/>
              <a:tabLst>
                <a:tab pos="954405" algn="l"/>
                <a:tab pos="955040" algn="l"/>
              </a:tabLst>
            </a:pPr>
            <a:r>
              <a:rPr lang="en-US" sz="1800" spc="110" dirty="0">
                <a:solidFill>
                  <a:schemeClr val="tx1"/>
                </a:solidFill>
                <a:latin typeface="Cambria"/>
                <a:cs typeface="Cambria"/>
              </a:rPr>
              <a:t> </a:t>
            </a:r>
          </a:p>
          <a:p>
            <a:pPr marL="297815" indent="-285750">
              <a:lnSpc>
                <a:spcPct val="100000"/>
              </a:lnSpc>
              <a:spcBef>
                <a:spcPts val="1545"/>
              </a:spcBef>
              <a:buFont typeface="Wingdings" panose="05000000000000000000" pitchFamily="2" charset="2"/>
              <a:buChar char="q"/>
              <a:tabLst>
                <a:tab pos="954405" algn="l"/>
                <a:tab pos="955040" algn="l"/>
              </a:tabLst>
            </a:pPr>
            <a:r>
              <a:rPr lang="en-US" spc="110" dirty="0">
                <a:solidFill>
                  <a:schemeClr val="tx1"/>
                </a:solidFill>
                <a:latin typeface="Cambria"/>
                <a:cs typeface="Cambria"/>
              </a:rPr>
              <a:t>Recruiter</a:t>
            </a:r>
            <a:r>
              <a:rPr lang="en-US" sz="1800" spc="110" dirty="0">
                <a:solidFill>
                  <a:schemeClr val="tx1"/>
                </a:solidFill>
                <a:latin typeface="Cambria"/>
                <a:cs typeface="Cambria"/>
              </a:rPr>
              <a:t> can advertise </a:t>
            </a:r>
            <a:r>
              <a:rPr lang="en-US" spc="110" dirty="0">
                <a:solidFill>
                  <a:schemeClr val="tx1"/>
                </a:solidFill>
                <a:latin typeface="Cambria"/>
                <a:cs typeface="Cambria"/>
              </a:rPr>
              <a:t>any Job by providing the required details.</a:t>
            </a:r>
          </a:p>
          <a:p>
            <a:pPr marL="12065" indent="0">
              <a:lnSpc>
                <a:spcPct val="100000"/>
              </a:lnSpc>
              <a:spcBef>
                <a:spcPts val="1545"/>
              </a:spcBef>
              <a:buNone/>
              <a:tabLst>
                <a:tab pos="954405" algn="l"/>
                <a:tab pos="955040" algn="l"/>
              </a:tabLst>
            </a:pPr>
            <a:endParaRPr lang="en-US" sz="1800" spc="110" dirty="0">
              <a:solidFill>
                <a:schemeClr val="tx1"/>
              </a:solidFill>
              <a:latin typeface="Cambria"/>
              <a:cs typeface="Cambria"/>
            </a:endParaRPr>
          </a:p>
          <a:p>
            <a:pPr marL="297815" indent="-285750">
              <a:lnSpc>
                <a:spcPct val="100000"/>
              </a:lnSpc>
              <a:spcBef>
                <a:spcPts val="1545"/>
              </a:spcBef>
              <a:buFont typeface="Wingdings" panose="05000000000000000000" pitchFamily="2" charset="2"/>
              <a:buChar char="q"/>
              <a:tabLst>
                <a:tab pos="954405" algn="l"/>
                <a:tab pos="955040" algn="l"/>
              </a:tabLst>
            </a:pPr>
            <a:r>
              <a:rPr lang="en-US" sz="1800" spc="110" dirty="0">
                <a:solidFill>
                  <a:schemeClr val="tx1"/>
                </a:solidFill>
                <a:latin typeface="Cambria"/>
                <a:cs typeface="Cambria"/>
              </a:rPr>
              <a:t>Recruiter can update and delete the job that he advertises</a:t>
            </a:r>
          </a:p>
          <a:p>
            <a:pPr>
              <a:buFont typeface="Wingdings" panose="05000000000000000000" pitchFamily="2" charset="2"/>
              <a:buChar char="q"/>
            </a:pPr>
            <a:endParaRPr lang="en-IN" dirty="0">
              <a:solidFill>
                <a:schemeClr val="tx1"/>
              </a:solidFill>
            </a:endParaRPr>
          </a:p>
        </p:txBody>
      </p:sp>
    </p:spTree>
    <p:extLst>
      <p:ext uri="{BB962C8B-B14F-4D97-AF65-F5344CB8AC3E}">
        <p14:creationId xmlns:p14="http://schemas.microsoft.com/office/powerpoint/2010/main" val="1703341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B52F6-C5EE-4CCC-C5E1-A5E416EB93BE}"/>
              </a:ext>
            </a:extLst>
          </p:cNvPr>
          <p:cNvSpPr>
            <a:spLocks noGrp="1"/>
          </p:cNvSpPr>
          <p:nvPr>
            <p:ph type="title"/>
          </p:nvPr>
        </p:nvSpPr>
        <p:spPr/>
        <p:txBody>
          <a:bodyPr>
            <a:normAutofit/>
          </a:bodyPr>
          <a:lstStyle/>
          <a:p>
            <a:r>
              <a:rPr lang="en-IN" sz="2800" b="1" spc="-10" dirty="0">
                <a:solidFill>
                  <a:schemeClr val="tx1"/>
                </a:solidFill>
              </a:rPr>
              <a:t>Jobseekers Page:</a:t>
            </a:r>
            <a:endParaRPr lang="en-IN" dirty="0"/>
          </a:p>
        </p:txBody>
      </p:sp>
      <p:sp>
        <p:nvSpPr>
          <p:cNvPr id="3" name="Content Placeholder 2">
            <a:extLst>
              <a:ext uri="{FF2B5EF4-FFF2-40B4-BE49-F238E27FC236}">
                <a16:creationId xmlns:a16="http://schemas.microsoft.com/office/drawing/2014/main" id="{5E33C166-EE41-B82D-13FC-C2C31E43841C}"/>
              </a:ext>
            </a:extLst>
          </p:cNvPr>
          <p:cNvSpPr>
            <a:spLocks noGrp="1"/>
          </p:cNvSpPr>
          <p:nvPr>
            <p:ph idx="1"/>
          </p:nvPr>
        </p:nvSpPr>
        <p:spPr>
          <a:xfrm>
            <a:off x="938591" y="1488613"/>
            <a:ext cx="8596668" cy="3880773"/>
          </a:xfrm>
        </p:spPr>
        <p:txBody>
          <a:bodyPr/>
          <a:lstStyle/>
          <a:p>
            <a:pPr marL="12065" indent="0">
              <a:lnSpc>
                <a:spcPct val="100000"/>
              </a:lnSpc>
              <a:spcBef>
                <a:spcPts val="1639"/>
              </a:spcBef>
              <a:buNone/>
              <a:tabLst>
                <a:tab pos="954405" algn="l"/>
                <a:tab pos="955040" algn="l"/>
              </a:tabLst>
            </a:pPr>
            <a:endParaRPr lang="en-US" sz="1800" dirty="0">
              <a:solidFill>
                <a:schemeClr val="tx1"/>
              </a:solidFill>
              <a:latin typeface="Cambria"/>
              <a:cs typeface="Cambria"/>
            </a:endParaRPr>
          </a:p>
          <a:p>
            <a:pPr marL="297815" indent="-285750">
              <a:lnSpc>
                <a:spcPct val="100000"/>
              </a:lnSpc>
              <a:spcBef>
                <a:spcPts val="1545"/>
              </a:spcBef>
              <a:buFont typeface="Wingdings" panose="05000000000000000000" pitchFamily="2" charset="2"/>
              <a:buChar char="q"/>
              <a:tabLst>
                <a:tab pos="954405" algn="l"/>
                <a:tab pos="955040" algn="l"/>
              </a:tabLst>
            </a:pPr>
            <a:r>
              <a:rPr lang="en-US" sz="1800" spc="110" dirty="0">
                <a:solidFill>
                  <a:schemeClr val="tx1"/>
                </a:solidFill>
                <a:latin typeface="Cambria"/>
                <a:cs typeface="Cambria"/>
              </a:rPr>
              <a:t>After Jobseekers login it will show </a:t>
            </a:r>
            <a:r>
              <a:rPr lang="en-US" spc="110" dirty="0">
                <a:solidFill>
                  <a:schemeClr val="tx1"/>
                </a:solidFill>
                <a:latin typeface="Cambria"/>
                <a:cs typeface="Cambria"/>
              </a:rPr>
              <a:t>of Jobs advertises by recruiters</a:t>
            </a:r>
          </a:p>
          <a:p>
            <a:pPr marL="12065" indent="0">
              <a:lnSpc>
                <a:spcPct val="100000"/>
              </a:lnSpc>
              <a:spcBef>
                <a:spcPts val="1545"/>
              </a:spcBef>
              <a:buNone/>
              <a:tabLst>
                <a:tab pos="954405" algn="l"/>
                <a:tab pos="955040" algn="l"/>
              </a:tabLst>
            </a:pPr>
            <a:endParaRPr lang="en-US" spc="110" dirty="0">
              <a:solidFill>
                <a:schemeClr val="tx1"/>
              </a:solidFill>
              <a:latin typeface="Cambria"/>
              <a:cs typeface="Cambria"/>
            </a:endParaRPr>
          </a:p>
          <a:p>
            <a:pPr marL="297815" indent="-285750">
              <a:lnSpc>
                <a:spcPct val="100000"/>
              </a:lnSpc>
              <a:spcBef>
                <a:spcPts val="1545"/>
              </a:spcBef>
              <a:buFont typeface="Wingdings" panose="05000000000000000000" pitchFamily="2" charset="2"/>
              <a:buChar char="q"/>
              <a:tabLst>
                <a:tab pos="954405" algn="l"/>
                <a:tab pos="955040" algn="l"/>
              </a:tabLst>
            </a:pPr>
            <a:r>
              <a:rPr lang="en-US" spc="110" dirty="0">
                <a:solidFill>
                  <a:schemeClr val="tx1"/>
                </a:solidFill>
                <a:latin typeface="Cambria"/>
                <a:cs typeface="Cambria"/>
              </a:rPr>
              <a:t>Jobseekers can apply to those Jobs and send notification to recruiters</a:t>
            </a:r>
          </a:p>
          <a:p>
            <a:pPr marL="12065" indent="0">
              <a:lnSpc>
                <a:spcPct val="100000"/>
              </a:lnSpc>
              <a:spcBef>
                <a:spcPts val="1545"/>
              </a:spcBef>
              <a:buNone/>
              <a:tabLst>
                <a:tab pos="954405" algn="l"/>
                <a:tab pos="955040" algn="l"/>
              </a:tabLst>
            </a:pPr>
            <a:endParaRPr lang="en-US" sz="1800" spc="110" dirty="0">
              <a:solidFill>
                <a:schemeClr val="tx1"/>
              </a:solidFill>
              <a:latin typeface="Cambria"/>
              <a:cs typeface="Cambria"/>
            </a:endParaRPr>
          </a:p>
          <a:p>
            <a:pPr marL="297815" indent="-285750">
              <a:lnSpc>
                <a:spcPct val="100000"/>
              </a:lnSpc>
              <a:spcBef>
                <a:spcPts val="1545"/>
              </a:spcBef>
              <a:buFont typeface="Wingdings" panose="05000000000000000000" pitchFamily="2" charset="2"/>
              <a:buChar char="q"/>
              <a:tabLst>
                <a:tab pos="954405" algn="l"/>
                <a:tab pos="955040" algn="l"/>
              </a:tabLst>
            </a:pPr>
            <a:r>
              <a:rPr lang="en-US" spc="110" dirty="0">
                <a:solidFill>
                  <a:schemeClr val="tx1"/>
                </a:solidFill>
                <a:latin typeface="Cambria"/>
                <a:cs typeface="Cambria"/>
              </a:rPr>
              <a:t>Jobseekers</a:t>
            </a:r>
            <a:r>
              <a:rPr lang="en-US" sz="1800" spc="110" dirty="0">
                <a:solidFill>
                  <a:schemeClr val="tx1"/>
                </a:solidFill>
                <a:latin typeface="Cambria"/>
                <a:cs typeface="Cambria"/>
              </a:rPr>
              <a:t> can send their profile </a:t>
            </a:r>
            <a:r>
              <a:rPr lang="en-US" spc="110" dirty="0">
                <a:solidFill>
                  <a:schemeClr val="tx1"/>
                </a:solidFill>
                <a:latin typeface="Cambria"/>
                <a:cs typeface="Cambria"/>
              </a:rPr>
              <a:t>details to recruiters to get Job.</a:t>
            </a:r>
          </a:p>
          <a:p>
            <a:pPr marL="12065" indent="0">
              <a:lnSpc>
                <a:spcPct val="100000"/>
              </a:lnSpc>
              <a:spcBef>
                <a:spcPts val="1545"/>
              </a:spcBef>
              <a:buNone/>
              <a:tabLst>
                <a:tab pos="954405" algn="l"/>
                <a:tab pos="955040" algn="l"/>
              </a:tabLst>
            </a:pPr>
            <a:endParaRPr lang="en-US" sz="1800" spc="110" dirty="0">
              <a:solidFill>
                <a:schemeClr val="tx1"/>
              </a:solidFill>
              <a:latin typeface="Cambria"/>
              <a:cs typeface="Cambria"/>
            </a:endParaRPr>
          </a:p>
          <a:p>
            <a:pPr marL="297815" indent="-285750">
              <a:lnSpc>
                <a:spcPct val="100000"/>
              </a:lnSpc>
              <a:spcBef>
                <a:spcPts val="1545"/>
              </a:spcBef>
              <a:buFont typeface="Wingdings" panose="05000000000000000000" pitchFamily="2" charset="2"/>
              <a:buChar char="q"/>
              <a:tabLst>
                <a:tab pos="954405" algn="l"/>
                <a:tab pos="955040" algn="l"/>
              </a:tabLst>
            </a:pPr>
            <a:r>
              <a:rPr lang="en-US" spc="110" dirty="0">
                <a:solidFill>
                  <a:schemeClr val="tx1"/>
                </a:solidFill>
                <a:latin typeface="Cambria"/>
                <a:cs typeface="Cambria"/>
              </a:rPr>
              <a:t>Jobseekers</a:t>
            </a:r>
            <a:r>
              <a:rPr lang="en-US" sz="1800" spc="110" dirty="0">
                <a:solidFill>
                  <a:schemeClr val="tx1"/>
                </a:solidFill>
                <a:latin typeface="Cambria"/>
                <a:cs typeface="Cambria"/>
              </a:rPr>
              <a:t> can update and delete the profile details</a:t>
            </a:r>
            <a:endParaRPr lang="en-IN" dirty="0">
              <a:solidFill>
                <a:schemeClr val="tx1"/>
              </a:solidFill>
            </a:endParaRPr>
          </a:p>
          <a:p>
            <a:endParaRPr lang="en-IN" dirty="0"/>
          </a:p>
        </p:txBody>
      </p:sp>
    </p:spTree>
    <p:extLst>
      <p:ext uri="{BB962C8B-B14F-4D97-AF65-F5344CB8AC3E}">
        <p14:creationId xmlns:p14="http://schemas.microsoft.com/office/powerpoint/2010/main" val="2061230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19DCB-0C12-4231-9FE8-DC179853146D}"/>
              </a:ext>
            </a:extLst>
          </p:cNvPr>
          <p:cNvSpPr>
            <a:spLocks noGrp="1"/>
          </p:cNvSpPr>
          <p:nvPr>
            <p:ph type="title"/>
          </p:nvPr>
        </p:nvSpPr>
        <p:spPr/>
        <p:txBody>
          <a:bodyPr/>
          <a:lstStyle/>
          <a:p>
            <a:r>
              <a:rPr lang="en-IN" sz="3600" b="1" spc="-10" dirty="0">
                <a:solidFill>
                  <a:schemeClr val="tx1"/>
                </a:solidFill>
              </a:rPr>
              <a:t>Admin Page:</a:t>
            </a:r>
            <a:endParaRPr lang="en-IN" dirty="0"/>
          </a:p>
        </p:txBody>
      </p:sp>
      <p:sp>
        <p:nvSpPr>
          <p:cNvPr id="3" name="Content Placeholder 2">
            <a:extLst>
              <a:ext uri="{FF2B5EF4-FFF2-40B4-BE49-F238E27FC236}">
                <a16:creationId xmlns:a16="http://schemas.microsoft.com/office/drawing/2014/main" id="{EC55C6FA-9225-EE6A-577B-CDC14C804E75}"/>
              </a:ext>
            </a:extLst>
          </p:cNvPr>
          <p:cNvSpPr>
            <a:spLocks noGrp="1"/>
          </p:cNvSpPr>
          <p:nvPr>
            <p:ph idx="1"/>
          </p:nvPr>
        </p:nvSpPr>
        <p:spPr>
          <a:xfrm>
            <a:off x="798632" y="1488613"/>
            <a:ext cx="8596668" cy="3880773"/>
          </a:xfrm>
        </p:spPr>
        <p:txBody>
          <a:bodyPr>
            <a:normAutofit/>
          </a:bodyPr>
          <a:lstStyle/>
          <a:p>
            <a:pPr marL="12065" indent="0">
              <a:lnSpc>
                <a:spcPct val="100000"/>
              </a:lnSpc>
              <a:spcBef>
                <a:spcPts val="1639"/>
              </a:spcBef>
              <a:buNone/>
              <a:tabLst>
                <a:tab pos="954405" algn="l"/>
                <a:tab pos="955040" algn="l"/>
              </a:tabLst>
            </a:pPr>
            <a:endParaRPr lang="en-US" sz="1800" dirty="0">
              <a:solidFill>
                <a:schemeClr val="tx1"/>
              </a:solidFill>
              <a:latin typeface="Cambria"/>
              <a:cs typeface="Cambria"/>
            </a:endParaRPr>
          </a:p>
          <a:p>
            <a:pPr marL="297815" indent="-285750">
              <a:lnSpc>
                <a:spcPct val="100000"/>
              </a:lnSpc>
              <a:spcBef>
                <a:spcPts val="1545"/>
              </a:spcBef>
              <a:buFont typeface="Wingdings" panose="05000000000000000000" pitchFamily="2" charset="2"/>
              <a:buChar char="q"/>
              <a:tabLst>
                <a:tab pos="954405" algn="l"/>
                <a:tab pos="955040" algn="l"/>
              </a:tabLst>
            </a:pPr>
            <a:r>
              <a:rPr lang="en-US" sz="1800" spc="110" dirty="0">
                <a:solidFill>
                  <a:schemeClr val="tx1"/>
                </a:solidFill>
                <a:latin typeface="Cambria"/>
                <a:cs typeface="Cambria"/>
              </a:rPr>
              <a:t>After Admin login it will show </a:t>
            </a:r>
            <a:r>
              <a:rPr lang="en-US" spc="110" dirty="0">
                <a:solidFill>
                  <a:schemeClr val="tx1"/>
                </a:solidFill>
                <a:latin typeface="Cambria"/>
                <a:cs typeface="Cambria"/>
              </a:rPr>
              <a:t>of Jobs advertises by recruiters and profiles of Jobseekers who want job.</a:t>
            </a:r>
          </a:p>
          <a:p>
            <a:pPr marL="12065" indent="0">
              <a:lnSpc>
                <a:spcPct val="100000"/>
              </a:lnSpc>
              <a:spcBef>
                <a:spcPts val="1545"/>
              </a:spcBef>
              <a:buNone/>
              <a:tabLst>
                <a:tab pos="954405" algn="l"/>
                <a:tab pos="955040" algn="l"/>
              </a:tabLst>
            </a:pPr>
            <a:endParaRPr lang="en-US" sz="1800" spc="110" dirty="0">
              <a:solidFill>
                <a:schemeClr val="tx1"/>
              </a:solidFill>
              <a:latin typeface="Cambria"/>
              <a:cs typeface="Cambria"/>
            </a:endParaRPr>
          </a:p>
          <a:p>
            <a:pPr marL="297815" indent="-285750">
              <a:lnSpc>
                <a:spcPct val="100000"/>
              </a:lnSpc>
              <a:spcBef>
                <a:spcPts val="1545"/>
              </a:spcBef>
              <a:buFont typeface="Wingdings" panose="05000000000000000000" pitchFamily="2" charset="2"/>
              <a:buChar char="q"/>
              <a:tabLst>
                <a:tab pos="954405" algn="l"/>
                <a:tab pos="955040" algn="l"/>
              </a:tabLst>
            </a:pPr>
            <a:r>
              <a:rPr lang="en-US" sz="1800" spc="110" dirty="0">
                <a:solidFill>
                  <a:schemeClr val="tx1"/>
                </a:solidFill>
                <a:latin typeface="Cambria"/>
                <a:cs typeface="Cambria"/>
              </a:rPr>
              <a:t>Admin can update and delete the profile details of Jobseekers and Jobs published by recruiters</a:t>
            </a:r>
            <a:endParaRPr lang="en-IN" dirty="0">
              <a:solidFill>
                <a:schemeClr val="tx1"/>
              </a:solidFill>
            </a:endParaRPr>
          </a:p>
          <a:p>
            <a:endParaRPr lang="en-IN" dirty="0"/>
          </a:p>
          <a:p>
            <a:endParaRPr lang="en-IN" dirty="0"/>
          </a:p>
        </p:txBody>
      </p:sp>
    </p:spTree>
    <p:extLst>
      <p:ext uri="{BB962C8B-B14F-4D97-AF65-F5344CB8AC3E}">
        <p14:creationId xmlns:p14="http://schemas.microsoft.com/office/powerpoint/2010/main" val="1932805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DCF93-9C14-AA19-D21C-53BDBE78CF6D}"/>
              </a:ext>
            </a:extLst>
          </p:cNvPr>
          <p:cNvSpPr>
            <a:spLocks noGrp="1"/>
          </p:cNvSpPr>
          <p:nvPr>
            <p:ph type="title"/>
          </p:nvPr>
        </p:nvSpPr>
        <p:spPr>
          <a:xfrm>
            <a:off x="210803" y="-24882"/>
            <a:ext cx="7869507" cy="575388"/>
          </a:xfrm>
        </p:spPr>
        <p:txBody>
          <a:bodyPr>
            <a:normAutofit fontScale="90000"/>
          </a:bodyPr>
          <a:lstStyle/>
          <a:p>
            <a:r>
              <a:rPr lang="en-US" dirty="0"/>
              <a:t>ER –Diagram :</a:t>
            </a:r>
            <a:endParaRPr lang="en-IN" dirty="0"/>
          </a:p>
        </p:txBody>
      </p:sp>
      <p:pic>
        <p:nvPicPr>
          <p:cNvPr id="6" name="Content Placeholder 5">
            <a:extLst>
              <a:ext uri="{FF2B5EF4-FFF2-40B4-BE49-F238E27FC236}">
                <a16:creationId xmlns:a16="http://schemas.microsoft.com/office/drawing/2014/main" id="{AAA6CC10-F5D6-7F5F-2309-414C9B5831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1885" y="550506"/>
            <a:ext cx="9181323" cy="6139543"/>
          </a:xfrm>
        </p:spPr>
      </p:pic>
    </p:spTree>
    <p:extLst>
      <p:ext uri="{BB962C8B-B14F-4D97-AF65-F5344CB8AC3E}">
        <p14:creationId xmlns:p14="http://schemas.microsoft.com/office/powerpoint/2010/main" val="298518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FF439-2145-CC9D-059B-2684106CEA64}"/>
              </a:ext>
            </a:extLst>
          </p:cNvPr>
          <p:cNvSpPr>
            <a:spLocks noGrp="1"/>
          </p:cNvSpPr>
          <p:nvPr>
            <p:ph type="title"/>
          </p:nvPr>
        </p:nvSpPr>
        <p:spPr/>
        <p:txBody>
          <a:bodyPr/>
          <a:lstStyle/>
          <a:p>
            <a:r>
              <a:rPr lang="en-IN" dirty="0"/>
              <a:t>DATABASE DESIGN:</a:t>
            </a:r>
          </a:p>
        </p:txBody>
      </p:sp>
      <p:sp>
        <p:nvSpPr>
          <p:cNvPr id="3" name="Content Placeholder 2">
            <a:extLst>
              <a:ext uri="{FF2B5EF4-FFF2-40B4-BE49-F238E27FC236}">
                <a16:creationId xmlns:a16="http://schemas.microsoft.com/office/drawing/2014/main" id="{C7BBE414-9F35-607E-9BF5-1C472EE4ADE4}"/>
              </a:ext>
            </a:extLst>
          </p:cNvPr>
          <p:cNvSpPr>
            <a:spLocks noGrp="1"/>
          </p:cNvSpPr>
          <p:nvPr>
            <p:ph idx="1"/>
          </p:nvPr>
        </p:nvSpPr>
        <p:spPr/>
        <p:txBody>
          <a:bodyPr/>
          <a:lstStyle/>
          <a:p>
            <a:pPr marL="342900" lvl="0" indent="-342900">
              <a:lnSpc>
                <a:spcPct val="107000"/>
              </a:lnSpc>
              <a:buFont typeface="Symbol" panose="05050102010706020507" pitchFamily="18" charset="2"/>
              <a:buChar char=""/>
            </a:pPr>
            <a:r>
              <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User (</a:t>
            </a:r>
            <a:r>
              <a:rPr lang="en-IN" sz="1800" b="1" u="sng"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user_id</a:t>
            </a:r>
            <a:r>
              <a:rPr lang="en-IN" sz="1800" b="1"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,Number</a:t>
            </a:r>
            <a:r>
              <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email</a:t>
            </a:r>
            <a:r>
              <a:rPr lang="en-IN" sz="1800" b="1" u="sng"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lang="en-IN" sz="1800" b="1"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Name,Age,password,user_type</a:t>
            </a:r>
            <a:r>
              <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Jobseeker (</a:t>
            </a:r>
            <a:r>
              <a:rPr lang="en-IN" sz="1800" b="1" u="sng"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User_Id</a:t>
            </a:r>
            <a:r>
              <a:rPr lang="en-IN" sz="1800" b="1"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lang="en-IN" b="1" dirty="0" err="1">
                <a:solidFill>
                  <a:schemeClr val="tx1"/>
                </a:solidFill>
                <a:latin typeface="Calibri" panose="020F0502020204030204" pitchFamily="34" charset="0"/>
                <a:ea typeface="Calibri" panose="020F0502020204030204" pitchFamily="34" charset="0"/>
                <a:cs typeface="Times New Roman" panose="02020603050405020304" pitchFamily="18" charset="0"/>
              </a:rPr>
              <a:t>Qualification</a:t>
            </a:r>
            <a:r>
              <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Job (</a:t>
            </a:r>
            <a:r>
              <a:rPr lang="en-IN" sz="1800" b="1" u="sng"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Job </a:t>
            </a:r>
            <a:r>
              <a:rPr lang="en-IN" sz="1800" b="1" u="sng"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Id</a:t>
            </a:r>
            <a:r>
              <a:rPr lang="en-IN" sz="1800" b="1" dirty="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,Job_Name,Salary</a:t>
            </a:r>
            <a:r>
              <a:rPr lang="en-IN" sz="18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Company, Eligibility, Deadline, Location)</a:t>
            </a:r>
            <a:endParaRPr lang="en-IN"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solidFill>
                <a:schemeClr val="tx1"/>
              </a:solidFill>
            </a:endParaRPr>
          </a:p>
        </p:txBody>
      </p:sp>
    </p:spTree>
    <p:extLst>
      <p:ext uri="{BB962C8B-B14F-4D97-AF65-F5344CB8AC3E}">
        <p14:creationId xmlns:p14="http://schemas.microsoft.com/office/powerpoint/2010/main" val="3753918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8BB06-FF99-579E-2676-88867AA5C4A2}"/>
              </a:ext>
            </a:extLst>
          </p:cNvPr>
          <p:cNvSpPr>
            <a:spLocks noGrp="1"/>
          </p:cNvSpPr>
          <p:nvPr>
            <p:ph type="title"/>
          </p:nvPr>
        </p:nvSpPr>
        <p:spPr/>
        <p:txBody>
          <a:bodyPr/>
          <a:lstStyle/>
          <a:p>
            <a:r>
              <a:rPr lang="en-US" dirty="0"/>
              <a:t>User signup Page :</a:t>
            </a:r>
            <a:endParaRPr lang="en-IN" dirty="0"/>
          </a:p>
        </p:txBody>
      </p:sp>
      <p:pic>
        <p:nvPicPr>
          <p:cNvPr id="5" name="Content Placeholder 4">
            <a:extLst>
              <a:ext uri="{FF2B5EF4-FFF2-40B4-BE49-F238E27FC236}">
                <a16:creationId xmlns:a16="http://schemas.microsoft.com/office/drawing/2014/main" id="{A787CC81-A7F1-8D18-04FB-891A0D3C59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2283" y="1317624"/>
            <a:ext cx="9724103" cy="5540375"/>
          </a:xfrm>
        </p:spPr>
      </p:pic>
    </p:spTree>
    <p:extLst>
      <p:ext uri="{BB962C8B-B14F-4D97-AF65-F5344CB8AC3E}">
        <p14:creationId xmlns:p14="http://schemas.microsoft.com/office/powerpoint/2010/main" val="1177479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A45C5-FBB7-DDF4-8B0B-7A4F512D7FB9}"/>
              </a:ext>
            </a:extLst>
          </p:cNvPr>
          <p:cNvSpPr>
            <a:spLocks noGrp="1"/>
          </p:cNvSpPr>
          <p:nvPr>
            <p:ph type="title"/>
          </p:nvPr>
        </p:nvSpPr>
        <p:spPr>
          <a:xfrm>
            <a:off x="556037" y="245706"/>
            <a:ext cx="7720217" cy="659363"/>
          </a:xfrm>
        </p:spPr>
        <p:txBody>
          <a:bodyPr/>
          <a:lstStyle/>
          <a:p>
            <a:r>
              <a:rPr lang="en-IN" spc="-10" dirty="0"/>
              <a:t>SNAPSHOTS-Employers Page</a:t>
            </a:r>
            <a:endParaRPr lang="en-IN" dirty="0"/>
          </a:p>
        </p:txBody>
      </p:sp>
      <p:pic>
        <p:nvPicPr>
          <p:cNvPr id="7" name="Content Placeholder 6">
            <a:extLst>
              <a:ext uri="{FF2B5EF4-FFF2-40B4-BE49-F238E27FC236}">
                <a16:creationId xmlns:a16="http://schemas.microsoft.com/office/drawing/2014/main" id="{A1FF6C17-CC94-29D3-AC67-62B603424EB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8598" y="1137920"/>
            <a:ext cx="8587962" cy="4853305"/>
          </a:xfrm>
        </p:spPr>
      </p:pic>
    </p:spTree>
    <p:extLst>
      <p:ext uri="{BB962C8B-B14F-4D97-AF65-F5344CB8AC3E}">
        <p14:creationId xmlns:p14="http://schemas.microsoft.com/office/powerpoint/2010/main" val="3243841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DEEBF-C633-A6B8-B420-5C3A68FC6F60}"/>
              </a:ext>
            </a:extLst>
          </p:cNvPr>
          <p:cNvSpPr>
            <a:spLocks noGrp="1"/>
          </p:cNvSpPr>
          <p:nvPr>
            <p:ph type="title"/>
          </p:nvPr>
        </p:nvSpPr>
        <p:spPr/>
        <p:txBody>
          <a:bodyPr/>
          <a:lstStyle/>
          <a:p>
            <a:r>
              <a:rPr lang="en-IN" dirty="0"/>
              <a:t>Job Profile Page :</a:t>
            </a:r>
          </a:p>
        </p:txBody>
      </p:sp>
      <p:pic>
        <p:nvPicPr>
          <p:cNvPr id="11" name="Content Placeholder 10">
            <a:extLst>
              <a:ext uri="{FF2B5EF4-FFF2-40B4-BE49-F238E27FC236}">
                <a16:creationId xmlns:a16="http://schemas.microsoft.com/office/drawing/2014/main" id="{BAFCE6B7-71F9-3159-E29B-374C58A8C0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4903" y="1543050"/>
            <a:ext cx="8596668" cy="5241208"/>
          </a:xfrm>
        </p:spPr>
      </p:pic>
    </p:spTree>
    <p:extLst>
      <p:ext uri="{BB962C8B-B14F-4D97-AF65-F5344CB8AC3E}">
        <p14:creationId xmlns:p14="http://schemas.microsoft.com/office/powerpoint/2010/main" val="1933404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81C68-44BD-9E9C-F1F2-3692702D19B7}"/>
              </a:ext>
            </a:extLst>
          </p:cNvPr>
          <p:cNvSpPr>
            <a:spLocks noGrp="1"/>
          </p:cNvSpPr>
          <p:nvPr>
            <p:ph type="title"/>
          </p:nvPr>
        </p:nvSpPr>
        <p:spPr>
          <a:xfrm>
            <a:off x="388085" y="156237"/>
            <a:ext cx="8596668" cy="1320800"/>
          </a:xfrm>
        </p:spPr>
        <p:txBody>
          <a:bodyPr/>
          <a:lstStyle/>
          <a:p>
            <a:r>
              <a:rPr lang="en-US" dirty="0"/>
              <a:t>Jobseekers Profile Page:</a:t>
            </a:r>
            <a:endParaRPr lang="en-IN" dirty="0"/>
          </a:p>
        </p:txBody>
      </p:sp>
      <p:pic>
        <p:nvPicPr>
          <p:cNvPr id="7" name="Content Placeholder 6">
            <a:extLst>
              <a:ext uri="{FF2B5EF4-FFF2-40B4-BE49-F238E27FC236}">
                <a16:creationId xmlns:a16="http://schemas.microsoft.com/office/drawing/2014/main" id="{C1050E72-50CB-B3FD-5CC1-8232EFFC1A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1097280"/>
            <a:ext cx="8879839" cy="4944745"/>
          </a:xfrm>
        </p:spPr>
      </p:pic>
    </p:spTree>
    <p:extLst>
      <p:ext uri="{BB962C8B-B14F-4D97-AF65-F5344CB8AC3E}">
        <p14:creationId xmlns:p14="http://schemas.microsoft.com/office/powerpoint/2010/main" val="3011129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58C63-93B4-B1F1-17DE-7B1C59F7C3DB}"/>
              </a:ext>
            </a:extLst>
          </p:cNvPr>
          <p:cNvSpPr>
            <a:spLocks noGrp="1"/>
          </p:cNvSpPr>
          <p:nvPr>
            <p:ph type="title"/>
          </p:nvPr>
        </p:nvSpPr>
        <p:spPr/>
        <p:txBody>
          <a:bodyPr/>
          <a:lstStyle/>
          <a:p>
            <a:r>
              <a:rPr lang="en-US" dirty="0"/>
              <a:t>Jobseekers job Applying Page:</a:t>
            </a:r>
            <a:endParaRPr lang="en-IN" dirty="0"/>
          </a:p>
        </p:txBody>
      </p:sp>
      <p:pic>
        <p:nvPicPr>
          <p:cNvPr id="7" name="Content Placeholder 6">
            <a:extLst>
              <a:ext uri="{FF2B5EF4-FFF2-40B4-BE49-F238E27FC236}">
                <a16:creationId xmlns:a16="http://schemas.microsoft.com/office/drawing/2014/main" id="{846C658D-DE72-4661-40E4-863624B2EB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4904" y="1396181"/>
            <a:ext cx="7472515" cy="5461819"/>
          </a:xfrm>
        </p:spPr>
      </p:pic>
    </p:spTree>
    <p:extLst>
      <p:ext uri="{BB962C8B-B14F-4D97-AF65-F5344CB8AC3E}">
        <p14:creationId xmlns:p14="http://schemas.microsoft.com/office/powerpoint/2010/main" val="138014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55A0C-4C30-4DCA-ACDA-D0DEDBBDDAD7}"/>
              </a:ext>
            </a:extLst>
          </p:cNvPr>
          <p:cNvSpPr>
            <a:spLocks noGrp="1"/>
          </p:cNvSpPr>
          <p:nvPr>
            <p:ph type="title"/>
          </p:nvPr>
        </p:nvSpPr>
        <p:spPr>
          <a:xfrm>
            <a:off x="528044" y="255037"/>
            <a:ext cx="6833809" cy="659363"/>
          </a:xfrm>
        </p:spPr>
        <p:txBody>
          <a:bodyPr/>
          <a:lstStyle/>
          <a:p>
            <a:r>
              <a:rPr lang="en-US" dirty="0"/>
              <a:t>Admins Profile Page :</a:t>
            </a:r>
            <a:endParaRPr lang="en-IN" dirty="0"/>
          </a:p>
        </p:txBody>
      </p:sp>
      <p:pic>
        <p:nvPicPr>
          <p:cNvPr id="11" name="Content Placeholder 10">
            <a:extLst>
              <a:ext uri="{FF2B5EF4-FFF2-40B4-BE49-F238E27FC236}">
                <a16:creationId xmlns:a16="http://schemas.microsoft.com/office/drawing/2014/main" id="{12630B72-336A-9212-60D6-E8C7DA0820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8044" y="1198880"/>
            <a:ext cx="9134116" cy="4843145"/>
          </a:xfrm>
        </p:spPr>
      </p:pic>
    </p:spTree>
    <p:extLst>
      <p:ext uri="{BB962C8B-B14F-4D97-AF65-F5344CB8AC3E}">
        <p14:creationId xmlns:p14="http://schemas.microsoft.com/office/powerpoint/2010/main" val="3270781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863EA-60F7-A79E-02FB-A1E059309377}"/>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B5CFAFFE-6C48-0F50-1BBD-9A879EA11810}"/>
              </a:ext>
            </a:extLst>
          </p:cNvPr>
          <p:cNvSpPr>
            <a:spLocks noGrp="1"/>
          </p:cNvSpPr>
          <p:nvPr>
            <p:ph idx="1"/>
          </p:nvPr>
        </p:nvSpPr>
        <p:spPr>
          <a:xfrm>
            <a:off x="556036" y="1750042"/>
            <a:ext cx="8596668" cy="3880773"/>
          </a:xfrm>
        </p:spPr>
        <p:txBody>
          <a:bodyPr/>
          <a:lstStyle/>
          <a:p>
            <a:r>
              <a:rPr lang="en-US" dirty="0"/>
              <a:t>The main objectives of Online Job portal management system is to develop a bridge between job seeker and job providing company.</a:t>
            </a:r>
          </a:p>
          <a:p>
            <a:pPr marL="0" indent="0">
              <a:buNone/>
            </a:pPr>
            <a:endParaRPr lang="en-US" dirty="0"/>
          </a:p>
          <a:p>
            <a:r>
              <a:rPr lang="en-US" dirty="0"/>
              <a:t> Since this is a web-based project therefore candidates can access it over internet which saves their time and money to travel. </a:t>
            </a:r>
          </a:p>
          <a:p>
            <a:pPr marL="0" indent="0">
              <a:buNone/>
            </a:pPr>
            <a:endParaRPr lang="en-US" dirty="0"/>
          </a:p>
          <a:p>
            <a:r>
              <a:rPr lang="en-US" dirty="0"/>
              <a:t>The mini project was designed in such a way that future modifications can be done easily. </a:t>
            </a:r>
            <a:endParaRPr lang="en-IN" dirty="0"/>
          </a:p>
        </p:txBody>
      </p:sp>
    </p:spTree>
    <p:extLst>
      <p:ext uri="{BB962C8B-B14F-4D97-AF65-F5344CB8AC3E}">
        <p14:creationId xmlns:p14="http://schemas.microsoft.com/office/powerpoint/2010/main" val="228811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38AB-657D-D9EB-F8F0-1465C93BF180}"/>
              </a:ext>
            </a:extLst>
          </p:cNvPr>
          <p:cNvSpPr>
            <a:spLocks noGrp="1"/>
          </p:cNvSpPr>
          <p:nvPr>
            <p:ph type="title"/>
          </p:nvPr>
        </p:nvSpPr>
        <p:spPr>
          <a:xfrm flipV="1">
            <a:off x="472060" y="-350519"/>
            <a:ext cx="3064242" cy="45719"/>
          </a:xfrm>
        </p:spPr>
        <p:txBody>
          <a:bodyPr>
            <a:normAutofit fontScale="90000"/>
          </a:bodyPr>
          <a:lstStyle/>
          <a:p>
            <a:r>
              <a:rPr lang="en-US" dirty="0"/>
              <a:t>-</a:t>
            </a:r>
            <a:endParaRPr lang="en-IN" dirty="0"/>
          </a:p>
        </p:txBody>
      </p:sp>
      <p:sp>
        <p:nvSpPr>
          <p:cNvPr id="3" name="Content Placeholder 2">
            <a:extLst>
              <a:ext uri="{FF2B5EF4-FFF2-40B4-BE49-F238E27FC236}">
                <a16:creationId xmlns:a16="http://schemas.microsoft.com/office/drawing/2014/main" id="{366B4B55-A23B-F017-8F83-ACBE66F18FD1}"/>
              </a:ext>
            </a:extLst>
          </p:cNvPr>
          <p:cNvSpPr>
            <a:spLocks noGrp="1"/>
          </p:cNvSpPr>
          <p:nvPr>
            <p:ph idx="1"/>
          </p:nvPr>
        </p:nvSpPr>
        <p:spPr>
          <a:xfrm>
            <a:off x="472060" y="1320834"/>
            <a:ext cx="8596668" cy="3880773"/>
          </a:xfrm>
        </p:spPr>
        <p:txBody>
          <a:bodyPr>
            <a:normAutofit/>
          </a:bodyPr>
          <a:lstStyle/>
          <a:p>
            <a:pPr>
              <a:buFont typeface="Wingdings" panose="05000000000000000000" pitchFamily="2" charset="2"/>
              <a:buChar char="q"/>
            </a:pPr>
            <a:r>
              <a:rPr lang="en-IN" sz="6600" dirty="0"/>
              <a:t>THANK YOU</a:t>
            </a:r>
          </a:p>
          <a:p>
            <a:pPr marL="0" indent="0">
              <a:buNone/>
            </a:pPr>
            <a:r>
              <a:rPr lang="en-IN" sz="6600"/>
              <a:t>   </a:t>
            </a:r>
            <a:r>
              <a:rPr lang="en-IN" sz="4000"/>
              <a:t>Any Questions ?</a:t>
            </a:r>
            <a:endParaRPr lang="en-IN" sz="4000" dirty="0"/>
          </a:p>
        </p:txBody>
      </p:sp>
    </p:spTree>
    <p:extLst>
      <p:ext uri="{BB962C8B-B14F-4D97-AF65-F5344CB8AC3E}">
        <p14:creationId xmlns:p14="http://schemas.microsoft.com/office/powerpoint/2010/main" val="170147602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834</TotalTime>
  <Words>492</Words>
  <Application>Microsoft Office PowerPoint</Application>
  <PresentationFormat>Widescreen</PresentationFormat>
  <Paragraphs>70</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Calibri</vt:lpstr>
      <vt:lpstr>Cambria</vt:lpstr>
      <vt:lpstr>Corbel</vt:lpstr>
      <vt:lpstr>Segoe UI Symbol</vt:lpstr>
      <vt:lpstr>Symbol</vt:lpstr>
      <vt:lpstr>Trebuchet MS</vt:lpstr>
      <vt:lpstr>Wingdings</vt:lpstr>
      <vt:lpstr>Wingdings 3</vt:lpstr>
      <vt:lpstr>Facet</vt:lpstr>
      <vt:lpstr>ONLINE JOB PORTAL   MANAGEMENT SYSTEM</vt:lpstr>
      <vt:lpstr>CONTENTS-</vt:lpstr>
      <vt:lpstr>INTRODUCTION-</vt:lpstr>
      <vt:lpstr>OBJECTIVE-</vt:lpstr>
      <vt:lpstr>TOOLS &amp; LANGUAGE USED-</vt:lpstr>
      <vt:lpstr>KEY FEATURES-  Employers Page:</vt:lpstr>
      <vt:lpstr>Jobseekers Page:</vt:lpstr>
      <vt:lpstr>Admin Page:</vt:lpstr>
      <vt:lpstr>ER –Diagram :</vt:lpstr>
      <vt:lpstr>DATABASE DESIGN:</vt:lpstr>
      <vt:lpstr>User signup Page :</vt:lpstr>
      <vt:lpstr>SNAPSHOTS-Employers Page</vt:lpstr>
      <vt:lpstr>Job Profile Page :</vt:lpstr>
      <vt:lpstr>Jobseekers Profile Page:</vt:lpstr>
      <vt:lpstr>Jobseekers job Applying Page:</vt:lpstr>
      <vt:lpstr>Admins Profile Page :</vt:lpstr>
      <vt:lpstr>Conclusion:</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JOB PORTAL   MANAGEMENT SYSTEM</dc:title>
  <dc:creator>Yogender Badgujjar</dc:creator>
  <cp:lastModifiedBy>yadhu karthik</cp:lastModifiedBy>
  <cp:revision>22</cp:revision>
  <dcterms:created xsi:type="dcterms:W3CDTF">2023-12-07T12:11:25Z</dcterms:created>
  <dcterms:modified xsi:type="dcterms:W3CDTF">2024-05-22T06:39:15Z</dcterms:modified>
</cp:coreProperties>
</file>